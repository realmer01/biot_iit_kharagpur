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b1d64a12-be16-8462-04c3-b5f16aa71bbf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8521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5120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C9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3" name="Text 0"/>
          <p:cNvSpPr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MadhuTwin architecture   ·   Anish Karthik Ayyagari, IIT Kharagpur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3172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9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MadhuTwin works: two data streams in, decisions out</a:t>
            </a:r>
            <a:endParaRPr lang="en-US" sz="2700" dirty="0"/>
          </a:p>
        </p:txBody>
      </p:sp>
      <p:sp>
        <p:nvSpPr>
          <p:cNvPr id="4" name="column head"/>
          <p:cNvSpPr txBox="1"/>
          <p:nvPr/>
        </p:nvSpPr>
        <p:spPr>
          <a:xfrm>
            <a:off x="64008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 SOURCES</a:t>
            </a:r>
            <a:endParaRPr lang="en-US" sz="1000" dirty="0"/>
          </a:p>
        </p:txBody>
      </p:sp>
      <p:sp>
        <p:nvSpPr>
          <p:cNvPr id="5" name="column head"/>
          <p:cNvSpPr txBox="1"/>
          <p:nvPr/>
        </p:nvSpPr>
        <p:spPr>
          <a:xfrm>
            <a:off x="32918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 DIGITAL TWIN</a:t>
            </a:r>
            <a:endParaRPr lang="en-US" sz="1000" dirty="0"/>
          </a:p>
        </p:txBody>
      </p:sp>
      <p:sp>
        <p:nvSpPr>
          <p:cNvPr id="6" name="column head"/>
          <p:cNvSpPr txBox="1"/>
          <p:nvPr/>
        </p:nvSpPr>
        <p:spPr>
          <a:xfrm>
            <a:off x="7269480" y="17373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 HYBRID ML</a:t>
            </a:r>
            <a:endParaRPr lang="en-US" sz="1000" dirty="0"/>
          </a:p>
        </p:txBody>
      </p:sp>
      <p:sp>
        <p:nvSpPr>
          <p:cNvPr id="7" name="column head"/>
          <p:cNvSpPr txBox="1"/>
          <p:nvPr/>
        </p:nvSpPr>
        <p:spPr>
          <a:xfrm>
            <a:off x="9829800" y="17373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 CLINICIAN</a:t>
            </a:r>
            <a:endParaRPr lang="en-US" sz="1000" dirty="0"/>
          </a:p>
        </p:txBody>
      </p:sp>
      <p:sp>
        <p:nvSpPr>
          <p:cNvPr id="8" name="rule"/>
          <p:cNvSpPr/>
          <p:nvPr/>
        </p:nvSpPr>
        <p:spPr>
          <a:xfrm>
            <a:off x="3090672" y="1737360"/>
            <a:ext cx="0" cy="411480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9" name="rule"/>
          <p:cNvSpPr/>
          <p:nvPr/>
        </p:nvSpPr>
        <p:spPr>
          <a:xfrm>
            <a:off x="7104888" y="1737360"/>
            <a:ext cx="0" cy="411480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0" name="rule"/>
          <p:cNvSpPr/>
          <p:nvPr/>
        </p:nvSpPr>
        <p:spPr>
          <a:xfrm>
            <a:off x="9665208" y="1737360"/>
            <a:ext cx="0" cy="411480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1" name="Static record (FHIR R4)"/>
          <p:cNvSpPr/>
          <p:nvPr/>
        </p:nvSpPr>
        <p:spPr>
          <a:xfrm>
            <a:off x="640080" y="210312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Static record (FHIR R4)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542032"/>
            <a:ext cx="21031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Diagnoses: ICD-10, SNOMED CT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Labs (LOINC): HbA1c, FPG, insulin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Medications (WHO ATC)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TCF7L2, polygenic risk</a:t>
            </a:r>
            <a:endParaRPr lang="en-US" sz="1050" dirty="0"/>
          </a:p>
        </p:txBody>
      </p:sp>
      <p:sp>
        <p:nvSpPr>
          <p:cNvPr id="14" name="Live streams"/>
          <p:cNvSpPr/>
          <p:nvPr/>
        </p:nvSpPr>
        <p:spPr>
          <a:xfrm>
            <a:off x="640080" y="402336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33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streams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62272"/>
            <a:ext cx="21031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CGM every 5 minutes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 rate, steps, METs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 stages, nightly HRV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meal log with GI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sensor samples only</a:t>
            </a:r>
            <a:endParaRPr lang="en-US" sz="1050" dirty="0"/>
          </a:p>
        </p:txBody>
      </p:sp>
      <p:sp>
        <p:nvSpPr>
          <p:cNvPr id="17" name="EHR → prior"/>
          <p:cNvSpPr/>
          <p:nvPr/>
        </p:nvSpPr>
        <p:spPr>
          <a:xfrm>
            <a:off x="3291840" y="2103120"/>
            <a:ext cx="1737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EHR → prior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54203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HOMA-IR → sensitivity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HbA1c → beta cells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Drugs → effects</a:t>
            </a:r>
            <a:endParaRPr lang="en-US" sz="1050" dirty="0"/>
          </a:p>
        </p:txBody>
      </p:sp>
      <p:sp>
        <p:nvSpPr>
          <p:cNvPr id="20" name="Personalise"/>
          <p:cNvSpPr/>
          <p:nvPr/>
        </p:nvSpPr>
        <p:spPr>
          <a:xfrm>
            <a:off x="5212080" y="2103120"/>
            <a:ext cx="1737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Personalise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54203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the twin's own forecasts on onboarding days</a:t>
            </a:r>
            <a:endParaRPr lang="en-US" sz="1050" dirty="0"/>
          </a:p>
        </p:txBody>
      </p:sp>
      <p:sp>
        <p:nvSpPr>
          <p:cNvPr id="23" name="Physiological model (Numba)"/>
          <p:cNvSpPr/>
          <p:nvPr/>
        </p:nvSpPr>
        <p:spPr>
          <a:xfrm>
            <a:off x="3291840" y="3474720"/>
            <a:ext cx="3657600" cy="1325880"/>
          </a:xfrm>
          <a:prstGeom prst="rect">
            <a:avLst/>
          </a:prstGeom>
          <a:solidFill>
            <a:srgbClr val="FBF4E6"/>
          </a:solidFill>
          <a:ln w="12700">
            <a:solidFill>
              <a:srgbClr val="B97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584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Physiological model (Numba)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913632"/>
            <a:ext cx="3383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model with two-chain gut absorption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Exercise, sleep debt, dawn, circadian rhythm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Metformin, SU, DPP-4i, SGLT2i, AGI, insulin</a:t>
            </a:r>
            <a:endParaRPr lang="en-US" sz="1050" dirty="0"/>
          </a:p>
        </p:txBody>
      </p:sp>
      <p:sp>
        <p:nvSpPr>
          <p:cNvPr id="26" name="Observer sync"/>
          <p:cNvSpPr/>
          <p:nvPr/>
        </p:nvSpPr>
        <p:spPr>
          <a:xfrm>
            <a:off x="3291840" y="4983480"/>
            <a:ext cx="1737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5093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Observer sync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54223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CGM corrects the state</a:t>
            </a:r>
            <a:endParaRPr lang="en-US" sz="1050" dirty="0"/>
          </a:p>
        </p:txBody>
      </p:sp>
      <p:sp>
        <p:nvSpPr>
          <p:cNvPr id="29" name="What-if engine"/>
          <p:cNvSpPr/>
          <p:nvPr/>
        </p:nvSpPr>
        <p:spPr>
          <a:xfrm>
            <a:off x="5212080" y="4983480"/>
            <a:ext cx="1737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49240" y="5093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What-if engine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54223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counterfactuals</a:t>
            </a:r>
            <a:endParaRPr lang="en-US" sz="1050" dirty="0"/>
          </a:p>
        </p:txBody>
      </p:sp>
      <p:sp>
        <p:nvSpPr>
          <p:cNvPr id="32" name="Stream-tagged features"/>
          <p:cNvSpPr/>
          <p:nvPr/>
        </p:nvSpPr>
        <p:spPr>
          <a:xfrm>
            <a:off x="7269480" y="2103120"/>
            <a:ext cx="2240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06640" y="22128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Stream-tagged features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2542032"/>
            <a:ext cx="1965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cgm · wearable · meal · ehr · twin</a:t>
            </a:r>
            <a:endParaRPr lang="en-US" sz="1050" dirty="0"/>
          </a:p>
        </p:txBody>
      </p:sp>
      <p:sp>
        <p:nvSpPr>
          <p:cNvPr id="35" name="Residual forecaster"/>
          <p:cNvSpPr/>
          <p:nvPr/>
        </p:nvSpPr>
        <p:spPr>
          <a:xfrm>
            <a:off x="7269480" y="3108960"/>
            <a:ext cx="2240280" cy="960120"/>
          </a:xfrm>
          <a:prstGeom prst="rect">
            <a:avLst/>
          </a:prstGeom>
          <a:solidFill>
            <a:srgbClr val="FBF4E6"/>
          </a:solidFill>
          <a:ln w="12700">
            <a:solidFill>
              <a:srgbClr val="B97A1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06640" y="3218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Residual forecaster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3547872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XGBoost, 30–120 min,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assuming no new food</a:t>
            </a:r>
            <a:endParaRPr lang="en-US" sz="1050" dirty="0"/>
          </a:p>
        </p:txBody>
      </p:sp>
      <p:sp>
        <p:nvSpPr>
          <p:cNvPr id="38" name="Conformal intervals"/>
          <p:cNvSpPr/>
          <p:nvPr/>
        </p:nvSpPr>
        <p:spPr>
          <a:xfrm>
            <a:off x="7269480" y="4206240"/>
            <a:ext cx="22402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06640" y="43159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Conformal intervals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406640" y="46451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CQR, 90 % coverage</a:t>
            </a:r>
            <a:endParaRPr lang="en-US" sz="1050" dirty="0"/>
          </a:p>
        </p:txBody>
      </p:sp>
      <p:sp>
        <p:nvSpPr>
          <p:cNvPr id="41" name="Event risk + TreeSHAP"/>
          <p:cNvSpPr/>
          <p:nvPr/>
        </p:nvSpPr>
        <p:spPr>
          <a:xfrm>
            <a:off x="7269480" y="5074920"/>
            <a:ext cx="22402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06640" y="51846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 risk + TreeSHAP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7406640" y="5513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 · spike · hypo, by stream</a:t>
            </a:r>
            <a:endParaRPr lang="en-US" sz="1050" dirty="0"/>
          </a:p>
        </p:txBody>
      </p:sp>
      <p:sp>
        <p:nvSpPr>
          <p:cNvPr id="44" name="FastAPI"/>
          <p:cNvSpPr/>
          <p:nvPr/>
        </p:nvSpPr>
        <p:spPr>
          <a:xfrm>
            <a:off x="9829800" y="2103120"/>
            <a:ext cx="171907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966960" y="221284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966960" y="2542032"/>
            <a:ext cx="14447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Out-of-fold serving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FHIR export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</a:t>
            </a:r>
            <a:endParaRPr lang="en-US" sz="1050" dirty="0"/>
          </a:p>
        </p:txBody>
      </p:sp>
      <p:sp>
        <p:nvSpPr>
          <p:cNvPr id="47" name="Clinician dashboard"/>
          <p:cNvSpPr/>
          <p:nvPr/>
        </p:nvSpPr>
        <p:spPr>
          <a:xfrm>
            <a:off x="9829800" y="3429000"/>
            <a:ext cx="1719072" cy="2377440"/>
          </a:xfrm>
          <a:prstGeom prst="rect">
            <a:avLst/>
          </a:prstGeom>
          <a:solidFill>
            <a:srgbClr val="FBF4E6"/>
          </a:solidFill>
          <a:ln w="12700">
            <a:solidFill>
              <a:srgbClr val="B97A1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66960" y="353872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Clinician dashboard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9966960" y="3867912"/>
            <a:ext cx="144475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Risk-sorted triage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twin and replay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with reasons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Twin-ranked actions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What-if simulator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AGP report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Coded health record</a:t>
            </a:r>
            <a:endParaRPr lang="en-US" sz="1050" dirty="0"/>
          </a:p>
        </p:txBody>
      </p:sp>
      <p:sp>
        <p:nvSpPr>
          <p:cNvPr id="50" name="flow"/>
          <p:cNvSpPr/>
          <p:nvPr/>
        </p:nvSpPr>
        <p:spPr>
          <a:xfrm>
            <a:off x="3017520" y="2697480"/>
            <a:ext cx="274320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1" name="flow"/>
          <p:cNvSpPr/>
          <p:nvPr/>
        </p:nvSpPr>
        <p:spPr>
          <a:xfrm>
            <a:off x="3017520" y="5394960"/>
            <a:ext cx="274320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2" name="flow"/>
          <p:cNvSpPr/>
          <p:nvPr/>
        </p:nvSpPr>
        <p:spPr>
          <a:xfrm>
            <a:off x="5029200" y="2697480"/>
            <a:ext cx="182880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3" name="flow"/>
          <p:cNvSpPr/>
          <p:nvPr/>
        </p:nvSpPr>
        <p:spPr>
          <a:xfrm>
            <a:off x="4160520" y="3291840"/>
            <a:ext cx="0" cy="18288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4" name="flow"/>
          <p:cNvSpPr/>
          <p:nvPr/>
        </p:nvSpPr>
        <p:spPr>
          <a:xfrm>
            <a:off x="6080760" y="3291840"/>
            <a:ext cx="0" cy="18288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5" name="flow"/>
          <p:cNvSpPr/>
          <p:nvPr/>
        </p:nvSpPr>
        <p:spPr>
          <a:xfrm>
            <a:off x="4160520" y="4800600"/>
            <a:ext cx="0" cy="18288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6" name="flow"/>
          <p:cNvSpPr/>
          <p:nvPr/>
        </p:nvSpPr>
        <p:spPr>
          <a:xfrm>
            <a:off x="6080760" y="4800600"/>
            <a:ext cx="0" cy="18288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7" name="flow"/>
          <p:cNvSpPr/>
          <p:nvPr/>
        </p:nvSpPr>
        <p:spPr>
          <a:xfrm>
            <a:off x="6949440" y="3584448"/>
            <a:ext cx="320040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8" name="flow"/>
          <p:cNvSpPr/>
          <p:nvPr/>
        </p:nvSpPr>
        <p:spPr>
          <a:xfrm>
            <a:off x="8389620" y="2971800"/>
            <a:ext cx="0" cy="13716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9" name="flow"/>
          <p:cNvSpPr/>
          <p:nvPr/>
        </p:nvSpPr>
        <p:spPr>
          <a:xfrm>
            <a:off x="9509760" y="3584448"/>
            <a:ext cx="320040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60" name="flow"/>
          <p:cNvSpPr/>
          <p:nvPr/>
        </p:nvSpPr>
        <p:spPr>
          <a:xfrm>
            <a:off x="9509760" y="5440680"/>
            <a:ext cx="320040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61" name="flow"/>
          <p:cNvSpPr/>
          <p:nvPr/>
        </p:nvSpPr>
        <p:spPr>
          <a:xfrm>
            <a:off x="10689336" y="3246120"/>
            <a:ext cx="0" cy="18288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GOVERNANCE   </a:t>
            </a:r>
            <a:pPr indent="0" marL="0"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per patient (DPDP Act)   ·   no dosing advice   ·   synthetic data always labelled   ·   out-of-fold predictions only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open data to the clinic: how every number is produced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REAL-DATA EVIDENCE   ·   CGMACROS (PHYSIONET), 45 ADULTS</a:t>
            </a:r>
            <a:endParaRPr lang="en-US" sz="1000" dirty="0"/>
          </a:p>
        </p:txBody>
      </p:sp>
      <p:sp>
        <p:nvSpPr>
          <p:cNvPr id="5" name="Download"/>
          <p:cNvSpPr/>
          <p:nvPr/>
        </p:nvSpPr>
        <p:spPr>
          <a:xfrm>
            <a:off x="640080" y="2103120"/>
            <a:ext cx="199339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054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Download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PhysioNet open-data mirror, SHA-256 verified</a:t>
            </a:r>
            <a:endParaRPr lang="en-US" sz="1050" dirty="0"/>
          </a:p>
        </p:txBody>
      </p:sp>
      <p:sp>
        <p:nvSpPr>
          <p:cNvPr id="9" name="flow"/>
          <p:cNvSpPr/>
          <p:nvPr/>
        </p:nvSpPr>
        <p:spPr>
          <a:xfrm>
            <a:off x="2633472" y="2761488"/>
            <a:ext cx="236144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0" name="Causal loader"/>
          <p:cNvSpPr/>
          <p:nvPr/>
        </p:nvSpPr>
        <p:spPr>
          <a:xfrm>
            <a:off x="2869616" y="2103120"/>
            <a:ext cx="199339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6776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06776" y="25054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Causal loader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06776" y="283464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sensor samples only; METs from calories</a:t>
            </a:r>
            <a:endParaRPr lang="en-US" sz="1050" dirty="0"/>
          </a:p>
        </p:txBody>
      </p:sp>
      <p:sp>
        <p:nvSpPr>
          <p:cNvPr id="14" name="flow"/>
          <p:cNvSpPr/>
          <p:nvPr/>
        </p:nvSpPr>
        <p:spPr>
          <a:xfrm>
            <a:off x="4863008" y="2761488"/>
            <a:ext cx="236144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5" name="Per-patient twin"/>
          <p:cNvSpPr/>
          <p:nvPr/>
        </p:nvSpPr>
        <p:spPr>
          <a:xfrm>
            <a:off x="5099152" y="2103120"/>
            <a:ext cx="1993392" cy="1325880"/>
          </a:xfrm>
          <a:prstGeom prst="rect">
            <a:avLst/>
          </a:prstGeom>
          <a:solidFill>
            <a:srgbClr val="FBF4E6"/>
          </a:solidFill>
          <a:ln w="12700">
            <a:solidFill>
              <a:srgbClr val="B97A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36312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36312" y="25054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Per-patient twin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36312" y="283464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Personalised on the first 40 % (≤ 4 days); the rest is unseen</a:t>
            </a:r>
            <a:endParaRPr lang="en-US" sz="1050" dirty="0"/>
          </a:p>
        </p:txBody>
      </p:sp>
      <p:sp>
        <p:nvSpPr>
          <p:cNvPr id="19" name="flow"/>
          <p:cNvSpPr/>
          <p:nvPr/>
        </p:nvSpPr>
        <p:spPr>
          <a:xfrm>
            <a:off x="7092544" y="2761488"/>
            <a:ext cx="236144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0" name="Leave-patients-out"/>
          <p:cNvSpPr/>
          <p:nvPr/>
        </p:nvSpPr>
        <p:spPr>
          <a:xfrm>
            <a:off x="7328687" y="2103120"/>
            <a:ext cx="1993392" cy="1325880"/>
          </a:xfrm>
          <a:prstGeom prst="rect">
            <a:avLst/>
          </a:prstGeom>
          <a:solidFill>
            <a:srgbClr val="FBF4E6"/>
          </a:solidFill>
          <a:ln w="12700">
            <a:solidFill>
              <a:srgbClr val="B97A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5847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65847" y="25054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Leave-patients-out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65847" y="283464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folds, stratified by glycaemic group; identical rows for every model</a:t>
            </a:r>
            <a:endParaRPr lang="en-US" sz="1050" dirty="0"/>
          </a:p>
        </p:txBody>
      </p:sp>
      <p:sp>
        <p:nvSpPr>
          <p:cNvPr id="24" name="flow"/>
          <p:cNvSpPr/>
          <p:nvPr/>
        </p:nvSpPr>
        <p:spPr>
          <a:xfrm>
            <a:off x="9322079" y="2761488"/>
            <a:ext cx="236144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5" name="Metrics"/>
          <p:cNvSpPr/>
          <p:nvPr/>
        </p:nvSpPr>
        <p:spPr>
          <a:xfrm>
            <a:off x="9558223" y="2103120"/>
            <a:ext cx="199339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5383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95383" y="25054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Metrics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695383" y="283464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RMSE, Clarke grid, AUROC, lead time, coverage, meal response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703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DEPLOYMENT   ·   BHARAT SYNTHETIC COHORT, 80 FICTIONAL INDIAN PATIENTS</a:t>
            </a:r>
            <a:endParaRPr lang="en-US" sz="1000" dirty="0"/>
          </a:p>
        </p:txBody>
      </p:sp>
      <p:sp>
        <p:nvSpPr>
          <p:cNvPr id="30" name="Generate"/>
          <p:cNvSpPr/>
          <p:nvPr/>
        </p:nvSpPr>
        <p:spPr>
          <a:xfrm>
            <a:off x="640080" y="4069080"/>
            <a:ext cx="199339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4714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Generate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80060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Physiology-first: Indian diets, drugs, stories</a:t>
            </a:r>
            <a:endParaRPr lang="en-US" sz="1050" dirty="0"/>
          </a:p>
        </p:txBody>
      </p:sp>
      <p:sp>
        <p:nvSpPr>
          <p:cNvPr id="34" name="flow"/>
          <p:cNvSpPr/>
          <p:nvPr/>
        </p:nvSpPr>
        <p:spPr>
          <a:xfrm>
            <a:off x="2633472" y="4727448"/>
            <a:ext cx="236144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35" name="Twin and features"/>
          <p:cNvSpPr/>
          <p:nvPr/>
        </p:nvSpPr>
        <p:spPr>
          <a:xfrm>
            <a:off x="2869616" y="4069080"/>
            <a:ext cx="199339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06776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006776" y="44714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Twin and features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006776" y="480060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pipeline as the real data</a:t>
            </a:r>
            <a:endParaRPr lang="en-US" sz="1050" dirty="0"/>
          </a:p>
        </p:txBody>
      </p:sp>
      <p:sp>
        <p:nvSpPr>
          <p:cNvPr id="39" name="flow"/>
          <p:cNvSpPr/>
          <p:nvPr/>
        </p:nvSpPr>
        <p:spPr>
          <a:xfrm>
            <a:off x="4863008" y="4727448"/>
            <a:ext cx="236144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40" name="Fold models"/>
          <p:cNvSpPr/>
          <p:nvPr/>
        </p:nvSpPr>
        <p:spPr>
          <a:xfrm>
            <a:off x="5099152" y="4069080"/>
            <a:ext cx="1993392" cy="1325880"/>
          </a:xfrm>
          <a:prstGeom prst="rect">
            <a:avLst/>
          </a:prstGeom>
          <a:solidFill>
            <a:srgbClr val="FBF4E6"/>
          </a:solidFill>
          <a:ln w="12700">
            <a:solidFill>
              <a:srgbClr val="B97A1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36312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236312" y="44714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Fold models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236312" y="480060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CGMacros plus four fifths of the cohort per fold</a:t>
            </a:r>
            <a:endParaRPr lang="en-US" sz="1050" dirty="0"/>
          </a:p>
        </p:txBody>
      </p:sp>
      <p:sp>
        <p:nvSpPr>
          <p:cNvPr id="44" name="flow"/>
          <p:cNvSpPr/>
          <p:nvPr/>
        </p:nvSpPr>
        <p:spPr>
          <a:xfrm>
            <a:off x="7092544" y="4727448"/>
            <a:ext cx="236144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45" name="Out-of-fold scoring"/>
          <p:cNvSpPr/>
          <p:nvPr/>
        </p:nvSpPr>
        <p:spPr>
          <a:xfrm>
            <a:off x="7328687" y="4069080"/>
            <a:ext cx="1993392" cy="1325880"/>
          </a:xfrm>
          <a:prstGeom prst="rect">
            <a:avLst/>
          </a:prstGeom>
          <a:solidFill>
            <a:srgbClr val="FBF4E6"/>
          </a:solidFill>
          <a:ln w="12700">
            <a:solidFill>
              <a:srgbClr val="B97A1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65847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465847" y="44714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Out-of-fold scoring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7465847" y="480060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patient scored by a model that never saw them</a:t>
            </a:r>
            <a:endParaRPr lang="en-US" sz="1050" dirty="0"/>
          </a:p>
        </p:txBody>
      </p:sp>
      <p:sp>
        <p:nvSpPr>
          <p:cNvPr id="49" name="flow"/>
          <p:cNvSpPr/>
          <p:nvPr/>
        </p:nvSpPr>
        <p:spPr>
          <a:xfrm>
            <a:off x="9322079" y="4727448"/>
            <a:ext cx="236144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50" name="API and dashboard"/>
          <p:cNvSpPr/>
          <p:nvPr/>
        </p:nvSpPr>
        <p:spPr>
          <a:xfrm>
            <a:off x="9558223" y="4069080"/>
            <a:ext cx="199339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695383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9695383" y="44714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and dashboard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9695383" y="4800600"/>
            <a:ext cx="1719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clock, alerts, what-if; synthetic metrics labelled</a:t>
            </a:r>
            <a:endParaRPr lang="en-US" sz="1050" dirty="0"/>
          </a:p>
        </p:txBody>
      </p:sp>
      <p:sp>
        <p:nvSpPr>
          <p:cNvPr id="54" name="rule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0080" y="58338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REPRODUCE   </a:t>
            </a:r>
            <a:pPr indent="0" marL="0">
              <a:buNone/>
            </a:pPr>
            <a:r>
              <a:rPr lang="en-US" sz="1050" dirty="0">
                <a:solidFill>
                  <a:srgbClr val="2A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download_cgmacros → build_cgmacros → evaluate_cgmacros → build_bharat → train_deploy → uvicorn madhutwin.api.main:app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dhuTwin">
  <a:themeElements>
    <a:clrScheme name="MadhuTwin">
      <a:dk1>
        <a:srgbClr val="14213D"/>
      </a:dk1>
      <a:lt1>
        <a:srgbClr val="FFFFFF"/>
      </a:lt1>
      <a:dk2>
        <a:srgbClr val="0F1B2D"/>
      </a:dk2>
      <a:lt2>
        <a:srgbClr val="F4F6F9"/>
      </a:lt2>
      <a:accent1>
        <a:srgbClr val="2A78D6"/>
      </a:accent1>
      <a:accent2>
        <a:srgbClr val="B97A12"/>
      </a:accent2>
      <a:accent3>
        <a:srgbClr val="1BAF7A"/>
      </a:accent3>
      <a:accent4>
        <a:srgbClr val="D03B3B"/>
      </a:accent4>
      <a:accent5>
        <a:srgbClr val="EB6834"/>
      </a:accent5>
      <a:accent6>
        <a:srgbClr val="6B7280"/>
      </a:accent6>
      <a:hlink>
        <a:srgbClr val="2A78D6"/>
      </a:hlink>
      <a:folHlink>
        <a:srgbClr val="B97A1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MadhuTwin architecture</dc:title>
  <dc:subject>PptxGenJS Presentation</dc:subject>
  <dc:creator>Anish Karthik Ayyagari</dc:creator>
  <cp:lastModifiedBy>Anish Karthik Ayyagari</cp:lastModifiedBy>
  <cp:revision>1</cp:revision>
  <dcterms:created xsi:type="dcterms:W3CDTF">2026-10-14T19:32:37Z</dcterms:created>
  <dcterms:modified xsi:type="dcterms:W3CDTF">2026-10-14T19:32:37Z</dcterms:modified>
</cp:coreProperties>
</file>