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rchitecture" id="{bc115bad-7b53-a88c-fa57-c1f4b554c9ac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48840"/>
            <a:ext cx="8961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8961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8781"/>
                </a:solidFill>
              </a:rPr>
              <a:t>MadhuTwin architecture  ·  Team Name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7EA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EA3C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Two data streams in, a personalised physiological twin plus a hybrid ML layer in the middle, decisions for the clinician out.</a:t>
            </a:r>
            <a:endParaRPr lang="en-US" sz="1250" dirty="0"/>
          </a:p>
        </p:txBody>
      </p:sp>
      <p:sp>
        <p:nvSpPr>
          <p:cNvPr id="4" name="1  Data sources band"/>
          <p:cNvSpPr/>
          <p:nvPr/>
        </p:nvSpPr>
        <p:spPr>
          <a:xfrm>
            <a:off x="548640" y="1371600"/>
            <a:ext cx="2514600" cy="4526280"/>
          </a:xfrm>
          <a:prstGeom prst="roundRect">
            <a:avLst>
              <a:gd name="adj" fmla="val 3636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1  DATA SOURCES</a:t>
            </a:r>
            <a:endParaRPr lang="en-US" sz="900" dirty="0"/>
          </a:p>
        </p:txBody>
      </p:sp>
      <p:sp>
        <p:nvSpPr>
          <p:cNvPr id="6" name="2  Digital twin band"/>
          <p:cNvSpPr/>
          <p:nvPr/>
        </p:nvSpPr>
        <p:spPr>
          <a:xfrm>
            <a:off x="3200400" y="1371600"/>
            <a:ext cx="3840480" cy="4526280"/>
          </a:xfrm>
          <a:prstGeom prst="roundRect">
            <a:avLst>
              <a:gd name="adj" fmla="val 2381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1444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2  DIGITAL TWIN</a:t>
            </a:r>
            <a:endParaRPr lang="en-US" sz="900" dirty="0"/>
          </a:p>
        </p:txBody>
      </p:sp>
      <p:sp>
        <p:nvSpPr>
          <p:cNvPr id="8" name="3  Hybrid ML band"/>
          <p:cNvSpPr/>
          <p:nvPr/>
        </p:nvSpPr>
        <p:spPr>
          <a:xfrm>
            <a:off x="7178040" y="1371600"/>
            <a:ext cx="2377440" cy="4526280"/>
          </a:xfrm>
          <a:prstGeom prst="roundRect">
            <a:avLst>
              <a:gd name="adj" fmla="val 3846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4447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3  HYBRID ML</a:t>
            </a:r>
            <a:endParaRPr lang="en-US" sz="900" dirty="0"/>
          </a:p>
        </p:txBody>
      </p:sp>
      <p:sp>
        <p:nvSpPr>
          <p:cNvPr id="10" name="4  Clinician band"/>
          <p:cNvSpPr/>
          <p:nvPr/>
        </p:nvSpPr>
        <p:spPr>
          <a:xfrm>
            <a:off x="9692640" y="1371600"/>
            <a:ext cx="1947672" cy="4526280"/>
          </a:xfrm>
          <a:prstGeom prst="roundRect">
            <a:avLst>
              <a:gd name="adj" fmla="val 469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29800" y="1444752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4  CLINICIAN</a:t>
            </a:r>
            <a:endParaRPr lang="en-US" sz="900" dirty="0"/>
          </a:p>
        </p:txBody>
      </p:sp>
      <p:sp>
        <p:nvSpPr>
          <p:cNvPr id="12" name="ehr"/>
          <p:cNvSpPr/>
          <p:nvPr/>
        </p:nvSpPr>
        <p:spPr>
          <a:xfrm>
            <a:off x="685800" y="1755648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184708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Static record (EHR)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157984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FHIR R4: demographics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Diagnoses (ICD-10, SNOMED CT)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Labs (LOINC): HbA1c, FPG, insulin, lipids, eGFR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Medications (WHO ATC)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TCF7L2, polygenic risk</a:t>
            </a:r>
            <a:endParaRPr lang="en-US" sz="1000" dirty="0"/>
          </a:p>
        </p:txBody>
      </p:sp>
      <p:sp>
        <p:nvSpPr>
          <p:cNvPr id="15" name="streams"/>
          <p:cNvSpPr/>
          <p:nvPr/>
        </p:nvSpPr>
        <p:spPr>
          <a:xfrm>
            <a:off x="685800" y="379476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Live streams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197096"/>
            <a:ext cx="1965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CGM, 5-min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Smartwatch: HR, steps, METs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Sleep stages, nightly HRV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Meal log (Indian foods, GI)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Native samples only (no look-ahead)</a:t>
            </a:r>
            <a:endParaRPr lang="en-US" sz="1000" dirty="0"/>
          </a:p>
        </p:txBody>
      </p:sp>
      <p:sp>
        <p:nvSpPr>
          <p:cNvPr id="18" name="prior"/>
          <p:cNvSpPr/>
          <p:nvPr/>
        </p:nvSpPr>
        <p:spPr>
          <a:xfrm>
            <a:off x="3337560" y="1755648"/>
            <a:ext cx="1737360" cy="1325880"/>
          </a:xfrm>
          <a:prstGeom prst="roundRect">
            <a:avLst>
              <a:gd name="adj" fmla="val 55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1847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EHR → prior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15798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HOMA-IR → insulin sensitivity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HbA1c, HOMA-B → beta cells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Regimen → drug effects</a:t>
            </a:r>
            <a:endParaRPr lang="en-US" sz="1000" dirty="0"/>
          </a:p>
        </p:txBody>
      </p:sp>
      <p:sp>
        <p:nvSpPr>
          <p:cNvPr id="21" name="personalise"/>
          <p:cNvSpPr/>
          <p:nvPr/>
        </p:nvSpPr>
        <p:spPr>
          <a:xfrm>
            <a:off x="5166360" y="1755648"/>
            <a:ext cx="1737360" cy="1325880"/>
          </a:xfrm>
          <a:prstGeom prst="roundRect">
            <a:avLst>
              <a:gd name="adj" fmla="val 551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1847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Personalise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15798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MAP fit of the twin's own 2-h forecasts on onboarding days</a:t>
            </a:r>
            <a:endParaRPr lang="en-US" sz="1000" dirty="0"/>
          </a:p>
        </p:txBody>
      </p:sp>
      <p:sp>
        <p:nvSpPr>
          <p:cNvPr id="24" name="physiology"/>
          <p:cNvSpPr/>
          <p:nvPr/>
        </p:nvSpPr>
        <p:spPr>
          <a:xfrm>
            <a:off x="3337560" y="3200400"/>
            <a:ext cx="3566160" cy="1508760"/>
          </a:xfrm>
          <a:prstGeom prst="roundRect">
            <a:avLst>
              <a:gd name="adj" fmla="val 4848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74720" y="32918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Physiological model (numba)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3602736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Extended Bergman minimal model + 2-chain gut absorption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Exercise (METs), sleep debt, dawn, circadian rhythm, counter-regulation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Metformin, SU, DPP-4i, SGLT2i, AGI, TZD, basal insulin</a:t>
            </a:r>
            <a:endParaRPr lang="en-US" sz="1000" dirty="0"/>
          </a:p>
        </p:txBody>
      </p:sp>
      <p:sp>
        <p:nvSpPr>
          <p:cNvPr id="27" name="sync"/>
          <p:cNvSpPr/>
          <p:nvPr/>
        </p:nvSpPr>
        <p:spPr>
          <a:xfrm>
            <a:off x="3337560" y="4828032"/>
            <a:ext cx="1737360" cy="932688"/>
          </a:xfrm>
          <a:prstGeom prst="roundRect">
            <a:avLst>
              <a:gd name="adj" fmla="val 784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74720" y="4919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Observer sync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474720" y="52303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 corrects state every sample</a:t>
            </a:r>
            <a:endParaRPr lang="en-US" sz="1000" dirty="0"/>
          </a:p>
        </p:txBody>
      </p:sp>
      <p:sp>
        <p:nvSpPr>
          <p:cNvPr id="30" name="whatif engine"/>
          <p:cNvSpPr/>
          <p:nvPr/>
        </p:nvSpPr>
        <p:spPr>
          <a:xfrm>
            <a:off x="5166360" y="4828032"/>
            <a:ext cx="1737360" cy="932688"/>
          </a:xfrm>
          <a:prstGeom prst="roundRect">
            <a:avLst>
              <a:gd name="adj" fmla="val 784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4919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What-if engine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2303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Batch counterfactuals, served by the API</a:t>
            </a:r>
            <a:endParaRPr lang="en-US" sz="1000" dirty="0"/>
          </a:p>
        </p:txBody>
      </p:sp>
      <p:sp>
        <p:nvSpPr>
          <p:cNvPr id="33" name="features"/>
          <p:cNvSpPr/>
          <p:nvPr/>
        </p:nvSpPr>
        <p:spPr>
          <a:xfrm>
            <a:off x="7315200" y="1755648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52360" y="18470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Stream-tagged features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452360" y="215798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cgm · wearable · meal · ehr · twin · context</a:t>
            </a:r>
            <a:endParaRPr lang="en-US" sz="1000" dirty="0"/>
          </a:p>
        </p:txBody>
      </p:sp>
      <p:sp>
        <p:nvSpPr>
          <p:cNvPr id="36" name="forecaster"/>
          <p:cNvSpPr/>
          <p:nvPr/>
        </p:nvSpPr>
        <p:spPr>
          <a:xfrm>
            <a:off x="7315200" y="3017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360" y="31089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Residual forecaster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452360" y="34198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XGBoost, 30–120 min, conditional on no new food</a:t>
            </a:r>
            <a:endParaRPr lang="en-US" sz="1000" dirty="0"/>
          </a:p>
        </p:txBody>
      </p:sp>
      <p:sp>
        <p:nvSpPr>
          <p:cNvPr id="39" name="cqr"/>
          <p:cNvSpPr/>
          <p:nvPr/>
        </p:nvSpPr>
        <p:spPr>
          <a:xfrm>
            <a:off x="7315200" y="411480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52360" y="4206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Conformal intervals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452360" y="451713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CQR, 90 % coverage</a:t>
            </a:r>
            <a:endParaRPr lang="en-US" sz="1000" dirty="0"/>
          </a:p>
        </p:txBody>
      </p:sp>
      <p:sp>
        <p:nvSpPr>
          <p:cNvPr id="42" name="events"/>
          <p:cNvSpPr/>
          <p:nvPr/>
        </p:nvSpPr>
        <p:spPr>
          <a:xfrm>
            <a:off x="7315200" y="49834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52360" y="5074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Event risk + TreeSHAP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452360" y="53858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hyper · spike · hypo, by stream</a:t>
            </a:r>
            <a:endParaRPr lang="en-US" sz="1000" dirty="0"/>
          </a:p>
        </p:txBody>
      </p:sp>
      <p:sp>
        <p:nvSpPr>
          <p:cNvPr id="45" name="api"/>
          <p:cNvSpPr/>
          <p:nvPr/>
        </p:nvSpPr>
        <p:spPr>
          <a:xfrm>
            <a:off x="9829800" y="1755648"/>
            <a:ext cx="16733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66960" y="184708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FastAPI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966960" y="2157984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Out-of-fold serving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FHIR export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Copilot (offline rule engine)</a:t>
            </a:r>
            <a:endParaRPr lang="en-US" sz="1000" dirty="0"/>
          </a:p>
        </p:txBody>
      </p:sp>
      <p:sp>
        <p:nvSpPr>
          <p:cNvPr id="48" name="dashboard"/>
          <p:cNvSpPr/>
          <p:nvPr/>
        </p:nvSpPr>
        <p:spPr>
          <a:xfrm>
            <a:off x="9829800" y="3108960"/>
            <a:ext cx="1673352" cy="2651760"/>
          </a:xfrm>
          <a:prstGeom prst="roundRect">
            <a:avLst>
              <a:gd name="adj" fmla="val 4372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966960" y="3200400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React dashboard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966960" y="3511296"/>
            <a:ext cx="1399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Risk-sorted triage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Live twin + replay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Alerts with reasons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Twin-ranked actions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What-if simulator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AGP report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Coded health record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Evidence page</a:t>
            </a:r>
            <a:endParaRPr lang="en-US" sz="1000" dirty="0"/>
          </a:p>
        </p:txBody>
      </p:sp>
      <p:sp>
        <p:nvSpPr>
          <p:cNvPr id="51" name="flow"/>
          <p:cNvSpPr/>
          <p:nvPr/>
        </p:nvSpPr>
        <p:spPr>
          <a:xfrm flipV="1">
            <a:off x="3063240" y="2423160"/>
            <a:ext cx="274320" cy="27432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2" name="flow"/>
          <p:cNvSpPr/>
          <p:nvPr/>
        </p:nvSpPr>
        <p:spPr>
          <a:xfrm>
            <a:off x="3063240" y="4754880"/>
            <a:ext cx="274320" cy="50292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3" name="flow"/>
          <p:cNvSpPr/>
          <p:nvPr/>
        </p:nvSpPr>
        <p:spPr>
          <a:xfrm>
            <a:off x="4206240" y="3081528"/>
            <a:ext cx="0" cy="118872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4" name="flow"/>
          <p:cNvSpPr/>
          <p:nvPr/>
        </p:nvSpPr>
        <p:spPr>
          <a:xfrm>
            <a:off x="5074920" y="2423160"/>
            <a:ext cx="91440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5" name="flow"/>
          <p:cNvSpPr/>
          <p:nvPr/>
        </p:nvSpPr>
        <p:spPr>
          <a:xfrm flipV="1">
            <a:off x="6903720" y="2331720"/>
            <a:ext cx="411480" cy="16002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6" name="flow"/>
          <p:cNvSpPr/>
          <p:nvPr/>
        </p:nvSpPr>
        <p:spPr>
          <a:xfrm>
            <a:off x="8366760" y="2898648"/>
            <a:ext cx="0" cy="118872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7" name="flow"/>
          <p:cNvSpPr/>
          <p:nvPr/>
        </p:nvSpPr>
        <p:spPr>
          <a:xfrm flipV="1">
            <a:off x="9418320" y="2377440"/>
            <a:ext cx="411480" cy="11430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8" name="flow"/>
          <p:cNvSpPr/>
          <p:nvPr/>
        </p:nvSpPr>
        <p:spPr>
          <a:xfrm flipV="1">
            <a:off x="9418320" y="4434840"/>
            <a:ext cx="411480" cy="91440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294B"/>
                </a:solidFill>
              </a:rPr>
              <a:t>Governance: DPDP-aligned consent per patient · decision support (no dosing) · synthetic data always labelled · every on-screen prediction from a model that never saw that patient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Validation and deployment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</a:rPr>
              <a:t>Every number in the README, slides and dashboard is regenerated by these scripts from public or synthetic data.</a:t>
            </a:r>
            <a:endParaRPr lang="en-US" sz="1250" dirty="0"/>
          </a:p>
        </p:txBody>
      </p:sp>
      <p:sp>
        <p:nvSpPr>
          <p:cNvPr id="4" name="Real-data evidence (CGMacros, PhysioNet, 45 adults) band"/>
          <p:cNvSpPr/>
          <p:nvPr/>
        </p:nvSpPr>
        <p:spPr>
          <a:xfrm>
            <a:off x="548640" y="1325880"/>
            <a:ext cx="11094415" cy="1691640"/>
          </a:xfrm>
          <a:prstGeom prst="roundRect">
            <a:avLst>
              <a:gd name="adj" fmla="val 540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990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REAL-DATA EVIDENCE (CGMACROS, PHYSIONET, 45 ADULTS)</a:t>
            </a:r>
            <a:endParaRPr lang="en-US" sz="900" dirty="0"/>
          </a:p>
        </p:txBody>
      </p:sp>
      <p:sp>
        <p:nvSpPr>
          <p:cNvPr id="6" name="download_cgmacros.py"/>
          <p:cNvSpPr/>
          <p:nvPr/>
        </p:nvSpPr>
        <p:spPr>
          <a:xfrm>
            <a:off x="685800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download_cgmacros.py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S3 mirror, SHA-256 check</a:t>
            </a:r>
            <a:endParaRPr lang="en-US" sz="1000" dirty="0"/>
          </a:p>
        </p:txBody>
      </p:sp>
      <p:sp>
        <p:nvSpPr>
          <p:cNvPr id="9" name="flow"/>
          <p:cNvSpPr/>
          <p:nvPr/>
        </p:nvSpPr>
        <p:spPr>
          <a:xfrm>
            <a:off x="2743200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0" name="Causal loader"/>
          <p:cNvSpPr/>
          <p:nvPr/>
        </p:nvSpPr>
        <p:spPr>
          <a:xfrm>
            <a:off x="2876474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Causal loader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13634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Native sensor samples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METs from calories</a:t>
            </a:r>
            <a:endParaRPr lang="en-US" sz="1000" dirty="0"/>
          </a:p>
        </p:txBody>
      </p:sp>
      <p:sp>
        <p:nvSpPr>
          <p:cNvPr id="13" name="flow"/>
          <p:cNvSpPr/>
          <p:nvPr/>
        </p:nvSpPr>
        <p:spPr>
          <a:xfrm>
            <a:off x="4933874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4" name="Per-patient twin"/>
          <p:cNvSpPr/>
          <p:nvPr/>
        </p:nvSpPr>
        <p:spPr>
          <a:xfrm>
            <a:off x="5067148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04308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Per-patient twin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04308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Onboard: first 40 % (≤4 d)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Monitor: the rest</a:t>
            </a:r>
            <a:endParaRPr lang="en-US" sz="1000" dirty="0"/>
          </a:p>
        </p:txBody>
      </p:sp>
      <p:sp>
        <p:nvSpPr>
          <p:cNvPr id="17" name="flow"/>
          <p:cNvSpPr/>
          <p:nvPr/>
        </p:nvSpPr>
        <p:spPr>
          <a:xfrm>
            <a:off x="7124548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18" name="5-fold leave-patients-out"/>
          <p:cNvSpPr/>
          <p:nvPr/>
        </p:nvSpPr>
        <p:spPr>
          <a:xfrm>
            <a:off x="7257821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94981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5-fold leave-patients-out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394981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Stratified by glycaemic group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Same rows for every model</a:t>
            </a:r>
            <a:endParaRPr lang="en-US" sz="1000" dirty="0"/>
          </a:p>
        </p:txBody>
      </p:sp>
      <p:sp>
        <p:nvSpPr>
          <p:cNvPr id="21" name="flow"/>
          <p:cNvSpPr/>
          <p:nvPr/>
        </p:nvSpPr>
        <p:spPr>
          <a:xfrm>
            <a:off x="9315221" y="22677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22" name="Metrics"/>
          <p:cNvSpPr/>
          <p:nvPr/>
        </p:nvSpPr>
        <p:spPr>
          <a:xfrm>
            <a:off x="9448495" y="16733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5655" y="17647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Metrics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585655" y="2075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RMSE, MARD, Clarke grid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AUROC, lead time, coverage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Meal response, ablation</a:t>
            </a:r>
            <a:endParaRPr lang="en-US" sz="1000" dirty="0"/>
          </a:p>
        </p:txBody>
      </p:sp>
      <p:sp>
        <p:nvSpPr>
          <p:cNvPr id="25" name="Deployment (Bharat synthetic cohort, 80 fictional Indian patients) band"/>
          <p:cNvSpPr/>
          <p:nvPr/>
        </p:nvSpPr>
        <p:spPr>
          <a:xfrm>
            <a:off x="548640" y="3154680"/>
            <a:ext cx="11094415" cy="1691640"/>
          </a:xfrm>
          <a:prstGeom prst="roundRect">
            <a:avLst>
              <a:gd name="adj" fmla="val 5405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32278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DEPLOYMENT (BHARAT SYNTHETIC COHORT, 80 FICTIONAL INDIAN PATIENTS)</a:t>
            </a:r>
            <a:endParaRPr lang="en-US" sz="900" dirty="0"/>
          </a:p>
        </p:txBody>
      </p:sp>
      <p:sp>
        <p:nvSpPr>
          <p:cNvPr id="27" name="build_bharat.py"/>
          <p:cNvSpPr/>
          <p:nvPr/>
        </p:nvSpPr>
        <p:spPr>
          <a:xfrm>
            <a:off x="685800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build_bharat.py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Physiology-first generator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Indian diets, drugs, stories</a:t>
            </a:r>
            <a:endParaRPr lang="en-US" sz="1000" dirty="0"/>
          </a:p>
        </p:txBody>
      </p:sp>
      <p:sp>
        <p:nvSpPr>
          <p:cNvPr id="30" name="flow"/>
          <p:cNvSpPr/>
          <p:nvPr/>
        </p:nvSpPr>
        <p:spPr>
          <a:xfrm>
            <a:off x="2743200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1" name="Twin + features"/>
          <p:cNvSpPr/>
          <p:nvPr/>
        </p:nvSpPr>
        <p:spPr>
          <a:xfrm>
            <a:off x="2876474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13634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Twin + features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013634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Same pipeline as real data</a:t>
            </a:r>
            <a:endParaRPr lang="en-US" sz="1000" dirty="0"/>
          </a:p>
        </p:txBody>
      </p:sp>
      <p:sp>
        <p:nvSpPr>
          <p:cNvPr id="34" name="flow"/>
          <p:cNvSpPr/>
          <p:nvPr/>
        </p:nvSpPr>
        <p:spPr>
          <a:xfrm>
            <a:off x="4933874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5" name="train_deploy.py"/>
          <p:cNvSpPr/>
          <p:nvPr/>
        </p:nvSpPr>
        <p:spPr>
          <a:xfrm>
            <a:off x="5067148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04308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train_deploy.py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204308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5 fold models: all CGMacros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+ 4/5 of the Bharat cohort</a:t>
            </a:r>
            <a:endParaRPr lang="en-US" sz="1000" dirty="0"/>
          </a:p>
        </p:txBody>
      </p:sp>
      <p:sp>
        <p:nvSpPr>
          <p:cNvPr id="38" name="flow"/>
          <p:cNvSpPr/>
          <p:nvPr/>
        </p:nvSpPr>
        <p:spPr>
          <a:xfrm>
            <a:off x="7124548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39" name="Out-of-fold predictions"/>
          <p:cNvSpPr/>
          <p:nvPr/>
        </p:nvSpPr>
        <p:spPr>
          <a:xfrm>
            <a:off x="7257821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13294B"/>
          </a:solidFill>
          <a:ln w="12700">
            <a:solidFill>
              <a:srgbClr val="13294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94981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Out-of-fold predictions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394981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Each patient scored by the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C9D7EA"/>
                </a:solidFill>
              </a:rPr>
              <a:t>model that never saw them</a:t>
            </a:r>
            <a:endParaRPr lang="en-US" sz="1000" dirty="0"/>
          </a:p>
        </p:txBody>
      </p:sp>
      <p:sp>
        <p:nvSpPr>
          <p:cNvPr id="42" name="flow"/>
          <p:cNvSpPr/>
          <p:nvPr/>
        </p:nvSpPr>
        <p:spPr>
          <a:xfrm>
            <a:off x="9315221" y="4096512"/>
            <a:ext cx="133274" cy="0"/>
          </a:xfrm>
          <a:prstGeom prst="line">
            <a:avLst/>
          </a:prstGeom>
          <a:noFill/>
          <a:ln w="15875">
            <a:solidFill>
              <a:srgbClr val="898781"/>
            </a:solidFill>
            <a:prstDash val="solid"/>
            <a:tailEnd type="triangle"/>
          </a:ln>
        </p:spPr>
      </p:sp>
      <p:sp>
        <p:nvSpPr>
          <p:cNvPr id="43" name="API + dashboard"/>
          <p:cNvSpPr/>
          <p:nvPr/>
        </p:nvSpPr>
        <p:spPr>
          <a:xfrm>
            <a:off x="9448495" y="3502152"/>
            <a:ext cx="20574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3C2B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585655" y="35935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</a:rPr>
              <a:t>API + dashboard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585655" y="3904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Replay clock, alerts, what-if</a:t>
            </a:r>
            <a:endParaRPr lang="en-US" sz="1000" dirty="0"/>
          </a:p>
          <a:p>
            <a:pPr marL="127000" indent="-1270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52514E"/>
                </a:solidFill>
              </a:rPr>
              <a:t>Synthetic metrics labelled</a:t>
            </a:r>
            <a:endParaRPr lang="en-US" sz="1000" dirty="0"/>
          </a:p>
        </p:txBody>
      </p:sp>
      <p:sp>
        <p:nvSpPr>
          <p:cNvPr id="46" name="Reproduce, in order band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AFAF9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056632"/>
            <a:ext cx="108200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98781"/>
                </a:solidFill>
              </a:rPr>
              <a:t>REPRODUCE, IN ORDER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85800" y="5349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  download_cgmacros → build_cgmacros → evaluate_cgmacros → build_bharat → train_deploy   then   uvicorn madhutwin.api.main:app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294B"/>
                </a:solidFill>
              </a:rPr>
              <a:t>Tests: physiology sanity, a look-ahead test (features at minute t are identical whether or not later data exists), metric checks, end-to-end API smoke tests.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0B0B0B"/>
      </a:dk1>
      <a:lt1>
        <a:srgbClr val="FFFFFF"/>
      </a:lt1>
      <a:dk2>
        <a:srgbClr val="13294B"/>
      </a:dk2>
      <a:lt2>
        <a:srgbClr val="F3F4F6"/>
      </a:lt2>
      <a:accent1>
        <a:srgbClr val="2A78D6"/>
      </a:accent1>
      <a:accent2>
        <a:srgbClr val="EB6834"/>
      </a:accent2>
      <a:accent3>
        <a:srgbClr val="1BAF7A"/>
      </a:accent3>
      <a:accent4>
        <a:srgbClr val="D03B3B"/>
      </a:accent4>
      <a:accent5>
        <a:srgbClr val="FAB219"/>
      </a:accent5>
      <a:accent6>
        <a:srgbClr val="52514E"/>
      </a:accent6>
      <a:hlink>
        <a:srgbClr val="2A78D6"/>
      </a:hlink>
      <a:folHlink>
        <a:srgbClr val="6250D6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 architecture</dc:title>
  <dc:subject>PptxGenJS Presentation</dc:subject>
  <dc:creator>Team Name</dc:creator>
  <cp:lastModifiedBy>Team Name</cp:lastModifiedBy>
  <cp:revision>1</cp:revision>
  <dcterms:created xsi:type="dcterms:W3CDTF">2026-10-14T14:26:58Z</dcterms:created>
  <dcterms:modified xsi:type="dcterms:W3CDTF">2026-10-14T14:26:58Z</dcterms:modified>
</cp:coreProperties>
</file>