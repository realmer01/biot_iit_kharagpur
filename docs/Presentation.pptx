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baa2bf8-6f6c-7b1c-2af7-39a0785ba417}">
          <p14:sldIdLst>
            <p14:sldId id="256"/>
            <p14:sldId id="257"/>
          </p14:sldIdLst>
        </p14:section>
        <p14:section name="Problem" id="{3d467954-4227-62c1-a2ec-0d2a55d5d45e}">
          <p14:sldIdLst>
            <p14:sldId id="258"/>
            <p14:sldId id="259"/>
          </p14:sldIdLst>
        </p14:section>
        <p14:section name="The twin" id="{49e419e4-9430-c1c9-ea3f-4ed07e92c6cc}">
          <p14:sldIdLst>
            <p14:sldId id="260"/>
            <p14:sldId id="261"/>
            <p14:sldId id="262"/>
            <p14:sldId id="263"/>
          </p14:sldIdLst>
        </p14:section>
        <p14:section name="In the clinic" id="{7c3ca502-f4e7-17f0-782e-846f174347b7}">
          <p14:sldIdLst>
            <p14:sldId id="264"/>
            <p14:sldId id="265"/>
            <p14:sldId id="266"/>
          </p14:sldIdLst>
        </p14:section>
        <p14:section name="Evidence" id="{290b25fd-1cbb-8a45-1d45-a6719d9ca90f}">
          <p14:sldIdLst>
            <p14:sldId id="267"/>
            <p14:sldId id="268"/>
            <p14:sldId id="269"/>
            <p14:sldId id="270"/>
          </p14:sldIdLst>
        </p14:section>
        <p14:section name="India" id="{e97592d4-5b29-f5cc-26f0-b2e6f85a700e}">
          <p14:sldIdLst>
            <p14:sldId id="271"/>
          </p14:sldIdLst>
        </p14:section>
        <p14:section name="Next" id="{343482b4-ab7c-388a-1595-996755382e74}">
          <p14:sldIdLst>
            <p14:sldId id="272"/>
          </p14:sldIdLst>
        </p14:section>
        <p14:section name="Close" id="{3e8b1325-a3ce-0842-62bb-0a291211cbbc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Normoglycaemic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88</c:v>
                </c:pt>
                <c:pt idx="1">
                  <c:v>88</c:v>
                </c:pt>
                <c:pt idx="2">
                  <c:v>105.4</c:v>
                </c:pt>
                <c:pt idx="3">
                  <c:v>143.4</c:v>
                </c:pt>
                <c:pt idx="4">
                  <c:v>166</c:v>
                </c:pt>
                <c:pt idx="5">
                  <c:v>155.6</c:v>
                </c:pt>
                <c:pt idx="6">
                  <c:v>125.4</c:v>
                </c:pt>
                <c:pt idx="7">
                  <c:v>98.5</c:v>
                </c:pt>
                <c:pt idx="8">
                  <c:v>83.2</c:v>
                </c:pt>
                <c:pt idx="9">
                  <c:v>77.2</c:v>
                </c:pt>
                <c:pt idx="10">
                  <c:v>76.3</c:v>
                </c:pt>
                <c:pt idx="11">
                  <c:v>77.8</c:v>
                </c:pt>
                <c:pt idx="12">
                  <c:v>80.5</c:v>
                </c:pt>
                <c:pt idx="13">
                  <c:v>83.8</c:v>
                </c:pt>
                <c:pt idx="14">
                  <c:v>87.4</c:v>
                </c:pt>
                <c:pt idx="15">
                  <c:v>91</c:v>
                </c:pt>
                <c:pt idx="16">
                  <c:v>94.1</c:v>
                </c:pt>
                <c:pt idx="17">
                  <c:v>96</c:v>
                </c:pt>
                <c:pt idx="18">
                  <c:v>96.4</c:v>
                </c:pt>
                <c:pt idx="19">
                  <c:v>95.3</c:v>
                </c:pt>
                <c:pt idx="20">
                  <c:v>93.4</c:v>
                </c:pt>
                <c:pt idx="21">
                  <c:v>91.4</c:v>
                </c:pt>
                <c:pt idx="22">
                  <c:v>89.9</c:v>
                </c:pt>
                <c:pt idx="23">
                  <c:v>89</c:v>
                </c:pt>
                <c:pt idx="24">
                  <c:v>88.9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Prediabetes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105.1</c:v>
                </c:pt>
                <c:pt idx="1">
                  <c:v>105</c:v>
                </c:pt>
                <c:pt idx="2">
                  <c:v>121</c:v>
                </c:pt>
                <c:pt idx="3">
                  <c:v>158.7</c:v>
                </c:pt>
                <c:pt idx="4">
                  <c:v>193.2</c:v>
                </c:pt>
                <c:pt idx="5">
                  <c:v>211</c:v>
                </c:pt>
                <c:pt idx="6">
                  <c:v>209.4</c:v>
                </c:pt>
                <c:pt idx="7">
                  <c:v>193.5</c:v>
                </c:pt>
                <c:pt idx="8">
                  <c:v>171.7</c:v>
                </c:pt>
                <c:pt idx="9">
                  <c:v>150.6</c:v>
                </c:pt>
                <c:pt idx="10">
                  <c:v>133.6</c:v>
                </c:pt>
                <c:pt idx="11">
                  <c:v>121.5</c:v>
                </c:pt>
                <c:pt idx="12">
                  <c:v>113.8</c:v>
                </c:pt>
                <c:pt idx="13">
                  <c:v>109.5</c:v>
                </c:pt>
                <c:pt idx="14">
                  <c:v>107.8</c:v>
                </c:pt>
                <c:pt idx="15">
                  <c:v>107.9</c:v>
                </c:pt>
                <c:pt idx="16">
                  <c:v>109</c:v>
                </c:pt>
                <c:pt idx="17">
                  <c:v>110.6</c:v>
                </c:pt>
                <c:pt idx="18">
                  <c:v>112.4</c:v>
                </c:pt>
                <c:pt idx="19">
                  <c:v>114</c:v>
                </c:pt>
                <c:pt idx="20">
                  <c:v>115.3</c:v>
                </c:pt>
                <c:pt idx="21">
                  <c:v>116</c:v>
                </c:pt>
                <c:pt idx="22">
                  <c:v>116.2</c:v>
                </c:pt>
                <c:pt idx="23">
                  <c:v>116</c:v>
                </c:pt>
                <c:pt idx="24">
                  <c:v>115.4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Type 2 diabetes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238.8</c:v>
                </c:pt>
                <c:pt idx="5">
                  <c:v>267.5</c:v>
                </c:pt>
                <c:pt idx="6">
                  <c:v>284.8</c:v>
                </c:pt>
                <c:pt idx="7">
                  <c:v>291.4</c:v>
                </c:pt>
                <c:pt idx="8">
                  <c:v>289.3</c:v>
                </c:pt>
                <c:pt idx="9">
                  <c:v>281.1</c:v>
                </c:pt>
                <c:pt idx="10">
                  <c:v>269.5</c:v>
                </c:pt>
                <c:pt idx="11">
                  <c:v>256.4</c:v>
                </c:pt>
                <c:pt idx="12">
                  <c:v>243.3</c:v>
                </c:pt>
                <c:pt idx="13">
                  <c:v>231.1</c:v>
                </c:pt>
                <c:pt idx="14">
                  <c:v>220.2</c:v>
                </c:pt>
                <c:pt idx="15">
                  <c:v>210.8</c:v>
                </c:pt>
                <c:pt idx="16">
                  <c:v>202.9</c:v>
                </c:pt>
                <c:pt idx="17">
                  <c:v>196.4</c:v>
                </c:pt>
                <c:pt idx="18">
                  <c:v>191</c:v>
                </c:pt>
                <c:pt idx="19">
                  <c:v>186.7</c:v>
                </c:pt>
                <c:pt idx="20">
                  <c:v>183.1</c:v>
                </c:pt>
                <c:pt idx="21">
                  <c:v>180.2</c:v>
                </c:pt>
                <c:pt idx="22">
                  <c:v>177.8</c:v>
                </c:pt>
                <c:pt idx="23">
                  <c:v>175.8</c:v>
                </c:pt>
                <c:pt idx="24">
                  <c:v>174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Type 2 diabetes + 15-min walk</c:v>
                </c:pt>
              </c:strCache>
            </c:strRef>
          </c:tx>
          <c:spPr>
            <a:solidFill>
              <a:srgbClr val="0F1B2D"/>
            </a:solidFill>
            <a:ln w="28575" cap="flat">
              <a:solidFill>
                <a:srgbClr val="0F1B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1B2D"/>
              </a:solidFill>
              <a:ln w="9525" cap="flat">
                <a:solidFill>
                  <a:srgbClr val="0F1B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237.4</c:v>
                </c:pt>
                <c:pt idx="5">
                  <c:v>255.2</c:v>
                </c:pt>
                <c:pt idx="6">
                  <c:v>262.9</c:v>
                </c:pt>
                <c:pt idx="7">
                  <c:v>267.5</c:v>
                </c:pt>
                <c:pt idx="8">
                  <c:v>267.3</c:v>
                </c:pt>
                <c:pt idx="9">
                  <c:v>262.9</c:v>
                </c:pt>
                <c:pt idx="10">
                  <c:v>255.5</c:v>
                </c:pt>
                <c:pt idx="11">
                  <c:v>246.4</c:v>
                </c:pt>
                <c:pt idx="12">
                  <c:v>236.7</c:v>
                </c:pt>
                <c:pt idx="13">
                  <c:v>227.1</c:v>
                </c:pt>
                <c:pt idx="14">
                  <c:v>218.2</c:v>
                </c:pt>
                <c:pt idx="15">
                  <c:v>210.3</c:v>
                </c:pt>
                <c:pt idx="16">
                  <c:v>203.3</c:v>
                </c:pt>
                <c:pt idx="17">
                  <c:v>197.4</c:v>
                </c:pt>
                <c:pt idx="18">
                  <c:v>192.3</c:v>
                </c:pt>
                <c:pt idx="19">
                  <c:v>188.1</c:v>
                </c:pt>
                <c:pt idx="20">
                  <c:v>184.6</c:v>
                </c:pt>
                <c:pt idx="21">
                  <c:v>181.6</c:v>
                </c:pt>
                <c:pt idx="22">
                  <c:v>179.1</c:v>
                </c:pt>
                <c:pt idx="23">
                  <c:v>176.9</c:v>
                </c:pt>
                <c:pt idx="24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minutes after the meal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6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mg/dL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16.9</c:v>
                </c:pt>
                <c:pt idx="1">
                  <c:v>23.7</c:v>
                </c:pt>
                <c:pt idx="2">
                  <c:v>26.8</c:v>
                </c:pt>
                <c:pt idx="3">
                  <c:v>28.2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Fusion (streams + EHR)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16.4</c:v>
                </c:pt>
                <c:pt idx="1">
                  <c:v>23.4</c:v>
                </c:pt>
                <c:pt idx="2">
                  <c:v>26.3</c:v>
                </c:pt>
                <c:pt idx="3">
                  <c:v>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Physiology only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23.4</c:v>
                </c:pt>
                <c:pt idx="1">
                  <c:v>30.1</c:v>
                </c:pt>
                <c:pt idx="2">
                  <c:v>32.5</c:v>
                </c:pt>
                <c:pt idx="3">
                  <c:v>33.4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8A94A3"/>
            </a:solidFill>
            <a:ln w="31750" cap="flat">
              <a:solidFill>
                <a:srgbClr val="8A94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A94A3"/>
              </a:solidFill>
              <a:ln w="9525" cap="flat">
                <a:solidFill>
                  <a:srgbClr val="8A94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19.8</c:v>
                </c:pt>
                <c:pt idx="1">
                  <c:v>28.7</c:v>
                </c:pt>
                <c:pt idx="2">
                  <c:v>34.4</c:v>
                </c:pt>
                <c:pt idx="3">
                  <c:v>38.5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0.677</c:v>
                </c:pt>
                <c:pt idx="1">
                  <c:v>0.827</c:v>
                </c:pt>
                <c:pt idx="2">
                  <c:v>0.839</c:v>
                </c:pt>
                <c:pt idx="3">
                  <c:v>0.824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0.827</c:v>
                </c:pt>
              </c:numCache>
            </c:numRef>
          </c:val>
        </c:ser>
        <c:dLbls>
          <c:numFmt formatCode="0.000;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Health-record prior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</c:v>
                </c:pt>
                <c:pt idx="1">
                  <c:v>40.4</c:v>
                </c:pt>
                <c:pt idx="2">
                  <c:v>36.9</c:v>
                </c:pt>
                <c:pt idx="3">
                  <c:v>34.3</c:v>
                </c:pt>
                <c:pt idx="4">
                  <c:v>32.8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Population prior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53.6</c:v>
                </c:pt>
                <c:pt idx="1">
                  <c:v>41.3</c:v>
                </c:pt>
                <c:pt idx="2">
                  <c:v>36.8</c:v>
                </c:pt>
                <c:pt idx="3">
                  <c:v>34.4</c:v>
                </c:pt>
                <c:pt idx="4">
                  <c:v>32.7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-0.12</c:v>
                </c:pt>
                <c:pt idx="1">
                  <c:v>0.15</c:v>
                </c:pt>
                <c:pt idx="2">
                  <c:v>0.26</c:v>
                </c:pt>
                <c:pt idx="3">
                  <c:v>0.57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0.61</c:v>
                </c:pt>
              </c:numCache>
            </c:numRef>
          </c:val>
        </c:ser>
        <c:dLbls>
          <c:numFmt formatCode="0.00;-0.00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Ramesh in Mysuru, reactive care, and what a digital twin changes. Madhu: from madhumeha, the classical Indian name for diabetes.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ICMR-INDIAB numbers. The clinic sees a snapshot; the harm happens in between.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Extended Bergman minimal model, numba-compiled: thousands of simulations per second on a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 the Ramesh story live in the dashboard; reveal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New patient live: Load sample patient, Build twin, then Open twin.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MadhuTwin   ·   Team BioT   ·   Anish Karthik Ayyagari, IIT Kharagpur   ·   Digital Twin Challenge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TWIN CHALLENGE 2026</a:t>
            </a:r>
            <a:endParaRPr lang="en-US" sz="1050" dirty="0"/>
          </a:p>
        </p:txBody>
      </p:sp>
      <p:pic>
        <p:nvPicPr>
          <p:cNvPr id="3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25880"/>
            <a:ext cx="5897880" cy="327355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MadhuTwin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physiological–AI digital twin that warns of glycaemic adverse events in type 2 diabetes before they happen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19379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532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Anish Karthik Ayyagari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704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709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8D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glucose day and the twin's next two hours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builder, every layer: physiology, machine learning, data and product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Anish Karthik Ayyagari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SOLO ENTRANT AND TEAM LEADER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Designed, built and validated end to end, from the glucose–insulin equations to the clinician dashboard. Every number in this deck is reproducible from open or synthetic data.</a:t>
            </a:r>
            <a:endParaRPr lang="en-US" sz="1350" dirty="0"/>
          </a:p>
        </p:txBody>
      </p:sp>
      <p:sp>
        <p:nvSpPr>
          <p:cNvPr id="8" name="rule"/>
          <p:cNvSpPr/>
          <p:nvPr/>
        </p:nvSpPr>
        <p:spPr>
          <a:xfrm>
            <a:off x="443484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Physiological twin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250" dirty="0"/>
          </a:p>
        </p:txBody>
      </p:sp>
      <p:sp>
        <p:nvSpPr>
          <p:cNvPr id="12" name="rule"/>
          <p:cNvSpPr/>
          <p:nvPr/>
        </p:nvSpPr>
        <p:spPr>
          <a:xfrm>
            <a:off x="4846320" y="303580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Health-record prior × sensor likelihood, MAP fit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Hybrid ML and validation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Leave-patients-out study on real CGMacros data</a:t>
            </a:r>
            <a:endParaRPr lang="en-US" sz="1250" dirty="0"/>
          </a:p>
        </p:txBody>
      </p:sp>
      <p:sp>
        <p:nvSpPr>
          <p:cNvPr id="19" name="rule"/>
          <p:cNvSpPr/>
          <p:nvPr/>
        </p:nvSpPr>
        <p:spPr>
          <a:xfrm>
            <a:off x="4846320" y="436168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Bharat synthetic cohort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fictional Indian patients, full EHR and wearables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and copilot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service, FHIR export, grounded summaries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dashboard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Triage, live twin, what-if, AGP report, evidence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has 101 million people with diabetes, yet their glucose is seen a few times a year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 M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living with diabetes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 M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with prediabetes</a:t>
            </a:r>
            <a:endParaRPr lang="en-US" sz="1200" dirty="0"/>
          </a:p>
        </p:txBody>
      </p:sp>
      <p:sp>
        <p:nvSpPr>
          <p:cNvPr id="8" name="rule"/>
          <p:cNvSpPr/>
          <p:nvPr/>
        </p:nvSpPr>
        <p:spPr>
          <a:xfrm>
            <a:off x="31546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11.4 %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diabetes prevalence</a:t>
            </a:r>
            <a:endParaRPr lang="en-US" sz="1200" dirty="0"/>
          </a:p>
        </p:txBody>
      </p:sp>
      <p:sp>
        <p:nvSpPr>
          <p:cNvPr id="11" name="rule"/>
          <p:cNvSpPr/>
          <p:nvPr/>
        </p:nvSpPr>
        <p:spPr>
          <a:xfrm>
            <a:off x="58978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15.3 %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prediabetes prevalence</a:t>
            </a:r>
            <a:endParaRPr lang="en-US" sz="1200" dirty="0"/>
          </a:p>
        </p:txBody>
      </p:sp>
      <p:sp>
        <p:nvSpPr>
          <p:cNvPr id="14" name="rule"/>
          <p:cNvSpPr/>
          <p:nvPr/>
        </p:nvSpPr>
        <p:spPr>
          <a:xfrm>
            <a:off x="86410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ICMR-INDIAB national study, Anjana et al., Lancet Diabetes &amp; Endocrinology 2023 (113,043 adults, 31 states and union territories).</a:t>
            </a:r>
            <a:endParaRPr lang="en-US" sz="1000" dirty="0"/>
          </a:p>
        </p:txBody>
      </p:sp>
      <p:sp>
        <p:nvSpPr>
          <p:cNvPr id="16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262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 is reactive.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quarterly HbA1c averages three months into one number. It cannot show the post-meal spikes or the afternoon lows behind complications and emergencies.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526280"/>
            <a:ext cx="5148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Sensors arrive; decisions do not.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CGMs and smartwatches now produce thousands of readings per patient, but doctors receive data dumps, not early warnings.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adverse events slip through between clinic visits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POST-MEAL SPIKE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High-glycaemic-load meals push glucose past 250 mg/dL for hours</a:t>
            </a:r>
            <a:endParaRPr lang="en-US" sz="1800" dirty="0"/>
          </a:p>
        </p:txBody>
      </p:sp>
      <p:pic>
        <p:nvPicPr>
          <p:cNvPr id="6" name="Post-meal spike trace" descr="C:\Users\Venkatsa0210\Desktop\Coding\Digital Twin Challenge\MadhuTwin\docs\build\visuals\spike_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52928"/>
            <a:ext cx="5120640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Sourav, 45, Kolkata · late lunch · synthetic cohort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meal raises glucose very differently from one person to the next.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DRUG-INDUCED LOW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sulfonylurea plus a skipped meal or a long walk pushes glucose below 70</a:t>
            </a:r>
            <a:endParaRPr lang="en-US" sz="1800" dirty="0"/>
          </a:p>
        </p:txBody>
      </p:sp>
      <p:pic>
        <p:nvPicPr>
          <p:cNvPr id="11" name="Drug-induced low trace" descr="C:\Users\Venkatsa0210\Desktop\Coding\Digital Twin Challenge\MadhuTwin\docs\build\visuals\hypo_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52928"/>
            <a:ext cx="5120640" cy="2286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Ramesh, 61, Mysuru · glimepiride and CKD · synthetic cohort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Inexpensive and widely prescribed in India, sulfonylureas are a leading cause of severe lows.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6099048" y="182880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living model of each patient, fed by their health record and their sensors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GOES IN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128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Static record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 and diagnoses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insulin, lipids, eGFR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Medications, TCF7L2, polygenic risk</a:t>
            </a:r>
            <a:endParaRPr lang="en-US" sz="1350" dirty="0"/>
          </a:p>
        </p:txBody>
      </p:sp>
      <p:sp>
        <p:nvSpPr>
          <p:cNvPr id="7" name="rule"/>
          <p:cNvSpPr/>
          <p:nvPr/>
        </p:nvSpPr>
        <p:spPr>
          <a:xfrm>
            <a:off x="640080" y="4114800"/>
            <a:ext cx="3108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streams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709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every 5 minutes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 rate, steps, METs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stages, HRV, meal log</a:t>
            </a:r>
            <a:endParaRPr lang="en-US" sz="1350" dirty="0"/>
          </a:p>
        </p:txBody>
      </p:sp>
      <p:sp>
        <p:nvSpPr>
          <p:cNvPr id="10" name="twin panel"/>
          <p:cNvSpPr/>
          <p:nvPr/>
        </p:nvSpPr>
        <p:spPr>
          <a:xfrm>
            <a:off x="4251960" y="1755648"/>
            <a:ext cx="365760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TWIN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317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Personalised physiology, corrected by machine learning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33756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from the record, refined by sensor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Synced to every CGM reading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corrects the residual, with calibrated uncertainty and reasons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82880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COMES OUT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240280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670048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hours ahead, with 90 % intervals</a:t>
            </a:r>
            <a:endParaRPr lang="en-US" sz="1350" dirty="0"/>
          </a:p>
        </p:txBody>
      </p:sp>
      <p:sp>
        <p:nvSpPr>
          <p:cNvPr id="17" name="rule"/>
          <p:cNvSpPr/>
          <p:nvPr/>
        </p:nvSpPr>
        <p:spPr>
          <a:xfrm>
            <a:off x="8412480" y="3337560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502152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warning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93192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Hyperglycaemia, spikes and lows, with reasons</a:t>
            </a:r>
            <a:endParaRPr lang="en-US" sz="1350" dirty="0"/>
          </a:p>
        </p:txBody>
      </p:sp>
      <p:sp>
        <p:nvSpPr>
          <p:cNvPr id="20" name="rule"/>
          <p:cNvSpPr/>
          <p:nvPr/>
        </p:nvSpPr>
        <p:spPr>
          <a:xfrm>
            <a:off x="8412480" y="4599432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4764024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5193792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Meals, walks, sleep and drug changes, simulated</a:t>
            </a:r>
            <a:endParaRPr lang="en-US" sz="1350" dirty="0"/>
          </a:p>
        </p:txBody>
      </p:sp>
      <p:sp>
        <p:nvSpPr>
          <p:cNvPr id="23" name="flow arrow"/>
          <p:cNvSpPr/>
          <p:nvPr/>
        </p:nvSpPr>
        <p:spPr>
          <a:xfrm>
            <a:off x="3822192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4" name="flow arrow"/>
          <p:cNvSpPr/>
          <p:nvPr/>
        </p:nvSpPr>
        <p:spPr>
          <a:xfrm>
            <a:off x="8001000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Physiology first: a glucose–insulin model that understands Indian meals and medicines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rice-and-sambar lunch (85 g carbohydrate), simulated for four physiologies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2179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08660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1874520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absorption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21992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and slow chains: glycaemic index, fat, fibre and protein shape the curve</a:t>
            </a:r>
            <a:endParaRPr lang="en-US" sz="1250" dirty="0"/>
          </a:p>
        </p:txBody>
      </p:sp>
      <p:sp>
        <p:nvSpPr>
          <p:cNvPr id="10" name="rule"/>
          <p:cNvSpPr/>
          <p:nvPr/>
        </p:nvSpPr>
        <p:spPr>
          <a:xfrm>
            <a:off x="7863840" y="2788920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2898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898648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Insulin secretion and action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246120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Beta-cell response, insulin sensitivity, glucose effectiveness</a:t>
            </a:r>
            <a:endParaRPr lang="en-US" sz="1250" dirty="0"/>
          </a:p>
        </p:txBody>
      </p:sp>
      <p:sp>
        <p:nvSpPr>
          <p:cNvPr id="14" name="rule"/>
          <p:cNvSpPr/>
          <p:nvPr/>
        </p:nvSpPr>
        <p:spPr>
          <a:xfrm>
            <a:off x="7863840" y="3813048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06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922776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Activity, sleep, rhythm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4270248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METs raise uptake; short sleep lowers sensitivity; dawn and circadian effects</a:t>
            </a:r>
            <a:endParaRPr lang="en-US" sz="1250" dirty="0"/>
          </a:p>
        </p:txBody>
      </p:sp>
      <p:sp>
        <p:nvSpPr>
          <p:cNvPr id="18" name="rule"/>
          <p:cNvSpPr/>
          <p:nvPr/>
        </p:nvSpPr>
        <p:spPr>
          <a:xfrm>
            <a:off x="7863840" y="4837176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06640" y="4946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4946904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Medicines used in India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5294376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Metformin, sulfonylureas, DPP-4i (teneligliptin), SGLT2i, voglibose, pioglitazone, basal insulin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health record sets the prior; the sensors make it personal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Prior from routine labs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 (HOMA-IR, HOMA-B) and weight set the patient's starting physiology, so the twin is useful on day zero.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Onboarding fit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days of CGM, meals and activity refine the parameters by fitting the twin's own two-hour forecasts (maximum a posteriori).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414223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Continuous sync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CGM sample corrects the virtual patient; insulin, gut glucose and exercise effects evolve through the physiology.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84555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41.9 → 29.7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395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mg/dL two-hour error of the physiology alone, before and after onboarding (real patients)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−0.68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5239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twin insulin sensitivity vs lab HOMA-IR across 45 real participants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4480560"/>
            <a:ext cx="3502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interpretable phenotype.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Insulin sensitivity, beta-cell response, disposition index, absorption speed, exercise response and dawn effect, normally measured with a clamp study, estimated from data the patient already generates.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corrects physiology, and says how sure it 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8745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forecaster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2219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Gradient-boosted trees for each horizon (30–120 min) see every stream plus the twin's own forecast and learn when to trust physiology. Forecasts assume no new food; new meals enter through the twin.</a:t>
            </a:r>
            <a:endParaRPr lang="en-US" sz="1300" dirty="0"/>
          </a:p>
        </p:txBody>
      </p:sp>
      <p:sp>
        <p:nvSpPr>
          <p:cNvPr id="7" name="rule"/>
          <p:cNvSpPr/>
          <p:nvPr/>
        </p:nvSpPr>
        <p:spPr>
          <a:xfrm>
            <a:off x="1097280" y="30906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461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461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Conformal intervals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5935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Conformalised quantile regression gives 90 % prediction intervals with a distribution-free guarantee. Observed coverage on unseen patients: 91.7 % at two hours.</a:t>
            </a:r>
            <a:endParaRPr lang="en-US" sz="1300" dirty="0"/>
          </a:p>
        </p:txBody>
      </p:sp>
      <p:sp>
        <p:nvSpPr>
          <p:cNvPr id="11" name="rule"/>
          <p:cNvSpPr/>
          <p:nvPr/>
        </p:nvSpPr>
        <p:spPr>
          <a:xfrm>
            <a:off x="1097280" y="44622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6177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6177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Explained alerts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9651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risks for hyperglycaemia, spikes and hypoglycaemia. Exact TreeSHAP values, grouped by data stream, tell the doctor why each alert fired.</a:t>
            </a:r>
            <a:endParaRPr lang="en-US" sz="1300" dirty="0"/>
          </a:p>
        </p:txBody>
      </p:sp>
      <p:pic>
        <p:nvPicPr>
          <p:cNvPr id="15" name="alert panel screenshot" descr="C:\Users\Venkatsa0210\Desktop\Coding\Digital Twin Challenge\MadhuTwin\docs\build\crops\alert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926080" cy="4270248"/>
          </a:xfrm>
          <a:prstGeom prst="rect">
            <a:avLst/>
          </a:prstGeom>
        </p:spPr>
      </p:pic>
      <p:sp>
        <p:nvSpPr>
          <p:cNvPr id="16" name="alert panel screenshot frame"/>
          <p:cNvSpPr/>
          <p:nvPr/>
        </p:nvSpPr>
        <p:spPr>
          <a:xfrm>
            <a:off x="8549640" y="1783080"/>
            <a:ext cx="2926080" cy="427024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9640" y="61264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view: risk, reasons and evidence by stream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Ramesh's afternoon low, flagged before it happens</a:t>
            </a:r>
            <a:endParaRPr lang="en-US" sz="2700" dirty="0"/>
          </a:p>
        </p:txBody>
      </p:sp>
      <p:pic>
        <p:nvPicPr>
          <p:cNvPr id="4" name="hypoglycaemia story screenshot" descr="C:\Users\Venkatsa0210\Desktop\Coding\Digital Twin Challenge\MadhuTwin\docs\build\crops\hypo_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474720"/>
          </a:xfrm>
          <a:prstGeom prst="rect">
            <a:avLst/>
          </a:prstGeom>
        </p:spPr>
      </p:pic>
      <p:sp>
        <p:nvSpPr>
          <p:cNvPr id="5" name="hypoglycaemia story screenshot frame"/>
          <p:cNvSpPr/>
          <p:nvPr/>
        </p:nvSpPr>
        <p:spPr>
          <a:xfrm>
            <a:off x="640080" y="1783080"/>
            <a:ext cx="7543800" cy="347472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349240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 blue after 'Now' is what actually happened, revealed for the demo. Synthetic patient.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78308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2130552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61, glimepiride and CKD; skips lunch and walks to the market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8529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2852928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twin sees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06840" y="3200400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falling trend, recent activity, a long fast and a sulfonylurea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392277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Risk, not just a line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4270248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median forecast expects recovery; the calibrated risk model gives a 54 % chance of a low. The low happens.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49926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499262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doctor gets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006840" y="5340096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urgent alert with reasons, a twin-tested action (15 g carbohydrate) and a prompt to review the dose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What-if: test a meal swap or a walk on the patient's own physiology</a:t>
            </a:r>
            <a:endParaRPr lang="en-US" sz="2700" dirty="0"/>
          </a:p>
        </p:txBody>
      </p:sp>
      <p:pic>
        <p:nvPicPr>
          <p:cNvPr id="4" name="what-if screenshot" descr="C:\Users\Venkatsa0210\Desktop\Coding\Digital Twin Challenge\MadhuTwin\docs\build\crops\whatif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310128"/>
          </a:xfrm>
          <a:prstGeom prst="rect">
            <a:avLst/>
          </a:prstGeom>
        </p:spPr>
      </p:pic>
      <p:sp>
        <p:nvSpPr>
          <p:cNvPr id="5" name="what-if screenshot frame"/>
          <p:cNvSpPr/>
          <p:nvPr/>
        </p:nvSpPr>
        <p:spPr>
          <a:xfrm>
            <a:off x="640080" y="1783080"/>
            <a:ext cx="7543800" cy="331012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184648"/>
            <a:ext cx="754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Lakshmi, 54, Chennai: usual rice-and-rasam lunch, the same lunch with a 15-minute walk, and brown rice with dal. Twin estimates.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−71 mg/dL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58775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brown rice and dal instead of rice and rasam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549640" y="324612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49640" y="34290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 mg/dL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23367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a 15-minute walk after the usual lunch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549640" y="489204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9640" y="507492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 sets the expected path; the patient's calibrated physiology computes how each change alters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zero: a new patient's twin, built in seconds</a:t>
            </a:r>
            <a:endParaRPr lang="en-US" sz="2700" dirty="0"/>
          </a:p>
        </p:txBody>
      </p:sp>
      <p:pic>
        <p:nvPicPr>
          <p:cNvPr id="4" name="new patient screenshot" descr="C:\Users\Venkatsa0210\Desktop\Coding\Digital Twin Challenge\MadhuTwin\docs\build\crops\onboard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760720" cy="4069080"/>
          </a:xfrm>
          <a:prstGeom prst="rect">
            <a:avLst/>
          </a:prstGeom>
        </p:spPr>
      </p:pic>
      <p:sp>
        <p:nvSpPr>
          <p:cNvPr id="5" name="new patient screenshot frame"/>
          <p:cNvSpPr/>
          <p:nvPr/>
        </p:nvSpPr>
        <p:spPr>
          <a:xfrm>
            <a:off x="640080" y="1783080"/>
            <a:ext cx="5760720" cy="406908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9436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Sunita, 60, Lucknow: a fictional sample upload that no model has seen. Built in about two seconds.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178308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Upload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60920" y="213055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CGM or smartwatch CSV export and a short record. Age, weight and HbA1c are enough to start.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7360920" y="2953512"/>
            <a:ext cx="419069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03720" y="31089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10896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345643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part of the recording fits the twin's physiology. On the sample, its two-hour error falls from 74 to 40 mg/dL.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360920" y="4279392"/>
            <a:ext cx="419069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03720" y="44348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43484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360920" y="478231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after that is forecast and scored by models that never saw the patient; the replay opens at the first alert.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unseen real patients, two-hour error is 27 % below persistence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Forecast RMSE on unseen CGMacros patients, mg/dL (lower is better)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adults with CGM, Fitbit, meals and labs · 5-fold leave-patients-out · twins personalised only on each patient's first days · 311 unseen patient-days · native sensor samples only</a:t>
            </a:r>
            <a:endParaRPr lang="en-US" sz="1000" dirty="0"/>
          </a:p>
        </p:txBody>
      </p:sp>
      <p:sp>
        <p:nvSpPr>
          <p:cNvPr id="7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28.2 mg/dL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two-hour RMSE, vs 38.5 for persistence</a:t>
            </a:r>
            <a:endParaRPr lang="en-US" sz="1200" dirty="0"/>
          </a:p>
        </p:txBody>
      </p:sp>
      <p:sp>
        <p:nvSpPr>
          <p:cNvPr id="10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99.0 %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two-hour forecasts clinically acceptable (Clarke zones A+B)</a:t>
            </a:r>
            <a:endParaRPr lang="en-US" sz="1200" dirty="0"/>
          </a:p>
        </p:txBody>
      </p:sp>
      <p:sp>
        <p:nvSpPr>
          <p:cNvPr id="13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50292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91.7 %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58338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observed coverage of the 90 % interval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record tells you who is at risk; the live streams tell you when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Predicting hyperglycaemia onset within two hours: AUROC by inputs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min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warning before glucose crosses 180 mg/dL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61 %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hyperglycaemic episodes flagged at least 15 minutes ahead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5074920"/>
            <a:ext cx="336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alone: AUROC 0.68 (who is at risk). With live streams: 0.83 (when). Spike AUROC 0.82; 1.4 false alerts per patient-day.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physiological twin earns its place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Day-zero personalisation: twin two-hour RMSE vs days of onboarding data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6172200" y="1783080"/>
            <a:ext cx="0" cy="42062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922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response: predicted vs actual peak, Pearson r (664 meals)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2011680"/>
          <a:ext cx="5212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21 % lower error on day zero.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makes the twin usable before any sensor data; after about a day the streams dominate.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525780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Physiology beats carbohydrate counting.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Carbs alone do not predict a person's response; the twin does. On the synthetic Indian cohort, 57 % of lows are flagged at least 10 minutes ahead.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work, and what we did about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Twin features vs the best fusion model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rolling real-data forecasts, adding twin features to the ML layer did not beat the best fusion model. The twin's measured value is simulation, day-zero personalisation and meal-response prediction.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ideas rejected after validation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disturbance observer, an activity-persistence prior and a fasting steady-state constraint were tested on held-out data and switched off: none improved accuracy.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small, non-Indian real cohort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US adults, about ten days each. Indian diets, drugs and demographics are tested on a synthetic cohort that is always labelled and never mixed with real evidence.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Lows: trust the risk, not the line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Lows are rare in real data and point forecasts regress towards typical levels before them. The calibrated hypoglycaemia classifier (AUROC 0.85 real, 0.99 synthetic) is the primary signal.</a:t>
            </a:r>
            <a:endParaRPr lang="en-US" sz="1350" dirty="0"/>
          </a:p>
        </p:txBody>
      </p:sp>
      <p:sp>
        <p:nvSpPr>
          <p:cNvPr id="12" name="rule"/>
          <p:cNvSpPr/>
          <p:nvPr/>
        </p:nvSpPr>
        <p:spPr>
          <a:xfrm>
            <a:off x="6099048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rule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  BUILT FOR INDIA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Indian clinics: diets, drugs, data law and standards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CLINICAL AND CULTURAL CONTEXT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food, Indian prescriptions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 Indian dishes with glycaemic index (IFCT 2017)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Teneligliptin, voglibose, glimepiride, gliclazide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Asian-Indian BMI and waist cut-offs; IDRS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language recorded for notices and nudges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PRIVACY BY DESIGN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Aligned with the DPDP Act 2023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Purpose-bound consent per patient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minimisation and retention limits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open de-identified or fictional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support: no dosing instructions</a:t>
            </a:r>
            <a:endParaRPr lang="en-US" sz="1350" dirty="0"/>
          </a:p>
        </p:txBody>
      </p:sp>
      <p:sp>
        <p:nvSpPr>
          <p:cNvPr id="10" name="rule"/>
          <p:cNvSpPr/>
          <p:nvPr/>
        </p:nvSpPr>
        <p:spPr>
          <a:xfrm>
            <a:off x="414223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INTEROPERABLE AND OPEN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for ABDM-style exchange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FHIR R4 bundles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LOINC, SNOMED CT, ICD-10, WHO ATC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CGM summary codes; AGP report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source: Python, FastAPI, React</a:t>
            </a:r>
            <a:endParaRPr lang="en-US" sz="1350" dirty="0"/>
          </a:p>
        </p:txBody>
      </p:sp>
      <p:sp>
        <p:nvSpPr>
          <p:cNvPr id="14" name="rule"/>
          <p:cNvSpPr/>
          <p:nvPr/>
        </p:nvSpPr>
        <p:spPr>
          <a:xfrm>
            <a:off x="784555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  WHAT COMES NEXT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clinic</a:t>
            </a:r>
            <a:endParaRPr lang="en-US" sz="2700" dirty="0"/>
          </a:p>
        </p:txBody>
      </p:sp>
      <p:sp>
        <p:nvSpPr>
          <p:cNvPr id="4" name="rule"/>
          <p:cNvSpPr/>
          <p:nvPr/>
        </p:nvSpPr>
        <p:spPr>
          <a:xfrm>
            <a:off x="749808" y="2121408"/>
            <a:ext cx="10362895" cy="0"/>
          </a:xfrm>
          <a:prstGeom prst="line">
            <a:avLst/>
          </a:prstGeom>
          <a:noFill/>
          <a:ln w="15875">
            <a:solidFill>
              <a:srgbClr val="D9DEE5"/>
            </a:solidFill>
            <a:prstDash val="solid"/>
          </a:ln>
        </p:spPr>
      </p:sp>
      <p:sp>
        <p:nvSpPr>
          <p:cNvPr id="5" name="milestone 1"/>
          <p:cNvSpPr/>
          <p:nvPr/>
        </p:nvSpPr>
        <p:spPr>
          <a:xfrm>
            <a:off x="658368" y="2011680"/>
            <a:ext cx="219456" cy="219456"/>
          </a:xfrm>
          <a:prstGeom prst="ellipse">
            <a:avLst/>
          </a:prstGeom>
          <a:solidFill>
            <a:srgbClr val="B97A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prototype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Real-data evidence, an Indian synthetic cohort, the clinician dashboard with new-patient onboarding, FHIR export</a:t>
            </a:r>
            <a:endParaRPr lang="en-US" sz="1300" dirty="0"/>
          </a:p>
        </p:txBody>
      </p:sp>
      <p:sp>
        <p:nvSpPr>
          <p:cNvPr id="9" name="milestone 2"/>
          <p:cNvSpPr/>
          <p:nvPr/>
        </p:nvSpPr>
        <p:spPr>
          <a:xfrm>
            <a:off x="344728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SIX MONTHS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pilot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remote-monitoring clinic in Bengaluru: alert-guided vs usual care on time in range and lows</a:t>
            </a:r>
            <a:endParaRPr lang="en-US" sz="1300" dirty="0"/>
          </a:p>
        </p:txBody>
      </p:sp>
      <p:sp>
        <p:nvSpPr>
          <p:cNvPr id="13" name="milestone 3"/>
          <p:cNvSpPr/>
          <p:nvPr/>
        </p:nvSpPr>
        <p:spPr>
          <a:xfrm>
            <a:off x="623620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TWELVE MONTHS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Photo-based Indian meal logging, lower-cost sensors, an on-device twin for low connectivity</a:t>
            </a:r>
            <a:endParaRPr lang="en-US" sz="1300" dirty="0"/>
          </a:p>
        </p:txBody>
      </p:sp>
      <p:sp>
        <p:nvSpPr>
          <p:cNvPr id="17" name="milestone 4"/>
          <p:cNvSpPr/>
          <p:nvPr/>
        </p:nvSpPr>
        <p:spPr>
          <a:xfrm>
            <a:off x="902512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0684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BEYOND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conditions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twin framework for hypertension and cardiovascular risk; CDSCO SaMD pathway</a:t>
            </a:r>
            <a:endParaRPr lang="en-US" sz="1300" dirty="0"/>
          </a:p>
        </p:txBody>
      </p:sp>
      <p:sp>
        <p:nvSpPr>
          <p:cNvPr id="21" name="rule"/>
          <p:cNvSpPr/>
          <p:nvPr/>
        </p:nvSpPr>
        <p:spPr>
          <a:xfrm>
            <a:off x="640080" y="4937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benefits.  </a:t>
            </a:r>
            <a:pPr indent="0" marL="0">
              <a:buNone/>
            </a:pPr>
            <a:r>
              <a:rPr lang="en-US" sz="14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Endocrinologists and physicians running remote-monitoring clinics, diabetes educators, and community programmes where every specialist minute counts.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MADHUTWIN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Warn early. Explain why.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before acting.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BioT   ·   Anish Karthik Ayyagari   ·   Indian Institute of Technology Kharagpur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github.com/Realmer01/BioT_IIT_Kharagpur</a:t>
            </a:r>
            <a:endParaRPr lang="en-US" sz="1500" dirty="0"/>
          </a:p>
        </p:txBody>
      </p:sp>
      <p:pic>
        <p:nvPicPr>
          <p:cNvPr id="5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589520" y="3931920"/>
            <a:ext cx="4297680" cy="2386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4213D"/>
      </a:dk1>
      <a:lt1>
        <a:srgbClr val="FFFFFF"/>
      </a:lt1>
      <a:dk2>
        <a:srgbClr val="0F1B2D"/>
      </a:dk2>
      <a:lt2>
        <a:srgbClr val="F4F6F9"/>
      </a:lt2>
      <a:accent1>
        <a:srgbClr val="2A78D6"/>
      </a:accent1>
      <a:accent2>
        <a:srgbClr val="B97A12"/>
      </a:accent2>
      <a:accent3>
        <a:srgbClr val="1BAF7A"/>
      </a:accent3>
      <a:accent4>
        <a:srgbClr val="D03B3B"/>
      </a:accent4>
      <a:accent5>
        <a:srgbClr val="EB6834"/>
      </a:accent5>
      <a:accent6>
        <a:srgbClr val="6B7280"/>
      </a:accent6>
      <a:hlink>
        <a:srgbClr val="2A78D6"/>
      </a:hlink>
      <a:folHlink>
        <a:srgbClr val="B97A1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MadhuTwin: a physiological-AI digital twin for type 2 diabetes</dc:title>
  <dc:subject>Digital Twin Challenge 2026</dc:subject>
  <dc:creator>Anish Karthik Ayyagari</dc:creator>
  <cp:lastModifiedBy>Anish Karthik Ayyagari</cp:lastModifiedBy>
  <cp:revision>1</cp:revision>
  <dcterms:created xsi:type="dcterms:W3CDTF">2026-10-22T11:51:33Z</dcterms:created>
  <dcterms:modified xsi:type="dcterms:W3CDTF">2026-10-22T11:51:33Z</dcterms:modified>
</cp:coreProperties>
</file>