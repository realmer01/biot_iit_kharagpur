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5d2d05a7-fc11-6696-eb32-f8062d71fd63}">
          <p14:sldIdLst>
            <p14:sldId id="256"/>
            <p14:sldId id="257"/>
          </p14:sldIdLst>
        </p14:section>
        <p14:section name="Problem" id="{75019e4b-704f-32ea-3f2c-5e501ef5ad04}">
          <p14:sldIdLst>
            <p14:sldId id="258"/>
            <p14:sldId id="259"/>
          </p14:sldIdLst>
        </p14:section>
        <p14:section name="Solution" id="{97f7995f-76b1-9f31-47fe-c2f4e483c295}">
          <p14:sldIdLst>
            <p14:sldId id="260"/>
            <p14:sldId id="261"/>
            <p14:sldId id="262"/>
            <p14:sldId id="263"/>
          </p14:sldIdLst>
        </p14:section>
        <p14:section name="Demo" id="{c0f160f7-bdd2-f1a1-d7db-3d75fd071dd1}">
          <p14:sldIdLst>
            <p14:sldId id="264"/>
            <p14:sldId id="265"/>
          </p14:sldIdLst>
        </p14:section>
        <p14:section name="Evidence" id="{fdd6b9c4-d5b1-031d-846d-0410bf7a577c}">
          <p14:sldIdLst>
            <p14:sldId id="266"/>
            <p14:sldId id="267"/>
            <p14:sldId id="268"/>
            <p14:sldId id="269"/>
          </p14:sldIdLst>
        </p14:section>
        <p14:section name="Impact" id="{a05c22da-d0bd-21f7-e91e-4217e355d94d}">
          <p14:sldIdLst>
            <p14:sldId id="270"/>
            <p14:sldId id="271"/>
          </p14:sldIdLst>
        </p14:section>
        <p14:section name="Close" id="{97144d78-2d5e-c889-f9b6-8fdceae9b9fa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0B0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B0B0B"/>
                </a:solidFill>
                <a:latin typeface="+mn-lt"/>
              </a:rPr>
              <a:t>Same rice-and-sambar lunch (85 g carbohydrate), simulated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Normoglycaemic</c:v>
                </c:pt>
              </c:strCache>
            </c:strRef>
          </c:tx>
          <c:spPr>
            <a:solidFill>
              <a:srgbClr val="1BAF7A"/>
            </a:solidFill>
            <a:ln w="28575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  <c:pt idx="5">
                    <c:v>50</c:v>
                  </c:pt>
                  <c:pt idx="6">
                    <c:v>60</c:v>
                  </c:pt>
                  <c:pt idx="7">
                    <c:v>70</c:v>
                  </c:pt>
                  <c:pt idx="8">
                    <c:v>80</c:v>
                  </c:pt>
                  <c:pt idx="9">
                    <c:v>90</c:v>
                  </c:pt>
                  <c:pt idx="10">
                    <c:v>100</c:v>
                  </c:pt>
                  <c:pt idx="11">
                    <c:v>110</c:v>
                  </c:pt>
                  <c:pt idx="12">
                    <c:v>120</c:v>
                  </c:pt>
                  <c:pt idx="13">
                    <c:v>130</c:v>
                  </c:pt>
                  <c:pt idx="14">
                    <c:v>140</c:v>
                  </c:pt>
                  <c:pt idx="15">
                    <c:v>150</c:v>
                  </c:pt>
                  <c:pt idx="16">
                    <c:v>160</c:v>
                  </c:pt>
                  <c:pt idx="17">
                    <c:v>170</c:v>
                  </c:pt>
                  <c:pt idx="18">
                    <c:v>180</c:v>
                  </c:pt>
                  <c:pt idx="19">
                    <c:v>190</c:v>
                  </c:pt>
                  <c:pt idx="20">
                    <c:v>200</c:v>
                  </c:pt>
                  <c:pt idx="21">
                    <c:v>210</c:v>
                  </c:pt>
                  <c:pt idx="22">
                    <c:v>220</c:v>
                  </c:pt>
                  <c:pt idx="23">
                    <c:v>230</c:v>
                  </c:pt>
                  <c:pt idx="24">
                    <c:v>240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88</c:v>
                </c:pt>
                <c:pt idx="1">
                  <c:v>88</c:v>
                </c:pt>
                <c:pt idx="2">
                  <c:v>105.4</c:v>
                </c:pt>
                <c:pt idx="3">
                  <c:v>143.4</c:v>
                </c:pt>
                <c:pt idx="4">
                  <c:v>166</c:v>
                </c:pt>
                <c:pt idx="5">
                  <c:v>155.6</c:v>
                </c:pt>
                <c:pt idx="6">
                  <c:v>125.4</c:v>
                </c:pt>
                <c:pt idx="7">
                  <c:v>98.5</c:v>
                </c:pt>
                <c:pt idx="8">
                  <c:v>83.2</c:v>
                </c:pt>
                <c:pt idx="9">
                  <c:v>77.2</c:v>
                </c:pt>
                <c:pt idx="10">
                  <c:v>76.3</c:v>
                </c:pt>
                <c:pt idx="11">
                  <c:v>77.8</c:v>
                </c:pt>
                <c:pt idx="12">
                  <c:v>80.5</c:v>
                </c:pt>
                <c:pt idx="13">
                  <c:v>83.8</c:v>
                </c:pt>
                <c:pt idx="14">
                  <c:v>87.4</c:v>
                </c:pt>
                <c:pt idx="15">
                  <c:v>91</c:v>
                </c:pt>
                <c:pt idx="16">
                  <c:v>94.1</c:v>
                </c:pt>
                <c:pt idx="17">
                  <c:v>96</c:v>
                </c:pt>
                <c:pt idx="18">
                  <c:v>96.4</c:v>
                </c:pt>
                <c:pt idx="19">
                  <c:v>95.3</c:v>
                </c:pt>
                <c:pt idx="20">
                  <c:v>93.4</c:v>
                </c:pt>
                <c:pt idx="21">
                  <c:v>91.4</c:v>
                </c:pt>
                <c:pt idx="22">
                  <c:v>89.9</c:v>
                </c:pt>
                <c:pt idx="23">
                  <c:v>89</c:v>
                </c:pt>
                <c:pt idx="24">
                  <c:v>88.9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Prediabetes</c:v>
                </c:pt>
              </c:strCache>
            </c:strRef>
          </c:tx>
          <c:spPr>
            <a:solidFill>
              <a:srgbClr val="2A78D6"/>
            </a:solidFill>
            <a:ln w="28575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  <c:pt idx="5">
                    <c:v>50</c:v>
                  </c:pt>
                  <c:pt idx="6">
                    <c:v>60</c:v>
                  </c:pt>
                  <c:pt idx="7">
                    <c:v>70</c:v>
                  </c:pt>
                  <c:pt idx="8">
                    <c:v>80</c:v>
                  </c:pt>
                  <c:pt idx="9">
                    <c:v>90</c:v>
                  </c:pt>
                  <c:pt idx="10">
                    <c:v>100</c:v>
                  </c:pt>
                  <c:pt idx="11">
                    <c:v>110</c:v>
                  </c:pt>
                  <c:pt idx="12">
                    <c:v>120</c:v>
                  </c:pt>
                  <c:pt idx="13">
                    <c:v>130</c:v>
                  </c:pt>
                  <c:pt idx="14">
                    <c:v>140</c:v>
                  </c:pt>
                  <c:pt idx="15">
                    <c:v>150</c:v>
                  </c:pt>
                  <c:pt idx="16">
                    <c:v>160</c:v>
                  </c:pt>
                  <c:pt idx="17">
                    <c:v>170</c:v>
                  </c:pt>
                  <c:pt idx="18">
                    <c:v>180</c:v>
                  </c:pt>
                  <c:pt idx="19">
                    <c:v>190</c:v>
                  </c:pt>
                  <c:pt idx="20">
                    <c:v>200</c:v>
                  </c:pt>
                  <c:pt idx="21">
                    <c:v>210</c:v>
                  </c:pt>
                  <c:pt idx="22">
                    <c:v>220</c:v>
                  </c:pt>
                  <c:pt idx="23">
                    <c:v>230</c:v>
                  </c:pt>
                  <c:pt idx="24">
                    <c:v>240</c:v>
                  </c:pt>
                </c:lvl>
              </c:multiLvlStrCache>
            </c:multiLvl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105.1</c:v>
                </c:pt>
                <c:pt idx="1">
                  <c:v>105</c:v>
                </c:pt>
                <c:pt idx="2">
                  <c:v>121</c:v>
                </c:pt>
                <c:pt idx="3">
                  <c:v>158.7</c:v>
                </c:pt>
                <c:pt idx="4">
                  <c:v>193.2</c:v>
                </c:pt>
                <c:pt idx="5">
                  <c:v>211</c:v>
                </c:pt>
                <c:pt idx="6">
                  <c:v>209.4</c:v>
                </c:pt>
                <c:pt idx="7">
                  <c:v>193.5</c:v>
                </c:pt>
                <c:pt idx="8">
                  <c:v>171.7</c:v>
                </c:pt>
                <c:pt idx="9">
                  <c:v>150.6</c:v>
                </c:pt>
                <c:pt idx="10">
                  <c:v>133.6</c:v>
                </c:pt>
                <c:pt idx="11">
                  <c:v>121.5</c:v>
                </c:pt>
                <c:pt idx="12">
                  <c:v>113.8</c:v>
                </c:pt>
                <c:pt idx="13">
                  <c:v>109.5</c:v>
                </c:pt>
                <c:pt idx="14">
                  <c:v>107.8</c:v>
                </c:pt>
                <c:pt idx="15">
                  <c:v>107.9</c:v>
                </c:pt>
                <c:pt idx="16">
                  <c:v>109</c:v>
                </c:pt>
                <c:pt idx="17">
                  <c:v>110.6</c:v>
                </c:pt>
                <c:pt idx="18">
                  <c:v>112.4</c:v>
                </c:pt>
                <c:pt idx="19">
                  <c:v>114</c:v>
                </c:pt>
                <c:pt idx="20">
                  <c:v>115.3</c:v>
                </c:pt>
                <c:pt idx="21">
                  <c:v>116</c:v>
                </c:pt>
                <c:pt idx="22">
                  <c:v>116.2</c:v>
                </c:pt>
                <c:pt idx="23">
                  <c:v>116</c:v>
                </c:pt>
                <c:pt idx="24">
                  <c:v>115.4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Type 2 diabetes</c:v>
                </c:pt>
              </c:strCache>
            </c:strRef>
          </c:tx>
          <c:spPr>
            <a:solidFill>
              <a:srgbClr val="EB6834"/>
            </a:solidFill>
            <a:ln w="28575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  <c:pt idx="5">
                    <c:v>50</c:v>
                  </c:pt>
                  <c:pt idx="6">
                    <c:v>60</c:v>
                  </c:pt>
                  <c:pt idx="7">
                    <c:v>70</c:v>
                  </c:pt>
                  <c:pt idx="8">
                    <c:v>80</c:v>
                  </c:pt>
                  <c:pt idx="9">
                    <c:v>90</c:v>
                  </c:pt>
                  <c:pt idx="10">
                    <c:v>100</c:v>
                  </c:pt>
                  <c:pt idx="11">
                    <c:v>110</c:v>
                  </c:pt>
                  <c:pt idx="12">
                    <c:v>120</c:v>
                  </c:pt>
                  <c:pt idx="13">
                    <c:v>130</c:v>
                  </c:pt>
                  <c:pt idx="14">
                    <c:v>140</c:v>
                  </c:pt>
                  <c:pt idx="15">
                    <c:v>150</c:v>
                  </c:pt>
                  <c:pt idx="16">
                    <c:v>160</c:v>
                  </c:pt>
                  <c:pt idx="17">
                    <c:v>170</c:v>
                  </c:pt>
                  <c:pt idx="18">
                    <c:v>180</c:v>
                  </c:pt>
                  <c:pt idx="19">
                    <c:v>190</c:v>
                  </c:pt>
                  <c:pt idx="20">
                    <c:v>200</c:v>
                  </c:pt>
                  <c:pt idx="21">
                    <c:v>210</c:v>
                  </c:pt>
                  <c:pt idx="22">
                    <c:v>220</c:v>
                  </c:pt>
                  <c:pt idx="23">
                    <c:v>230</c:v>
                  </c:pt>
                  <c:pt idx="24">
                    <c:v>240</c:v>
                  </c:pt>
                </c:lvl>
              </c:multiLvlStrCache>
            </c:multiLvl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150.2</c:v>
                </c:pt>
                <c:pt idx="1">
                  <c:v>150.2</c:v>
                </c:pt>
                <c:pt idx="2">
                  <c:v>165.1</c:v>
                </c:pt>
                <c:pt idx="3">
                  <c:v>201.7</c:v>
                </c:pt>
                <c:pt idx="4">
                  <c:v>238.8</c:v>
                </c:pt>
                <c:pt idx="5">
                  <c:v>267.5</c:v>
                </c:pt>
                <c:pt idx="6">
                  <c:v>284.8</c:v>
                </c:pt>
                <c:pt idx="7">
                  <c:v>291.4</c:v>
                </c:pt>
                <c:pt idx="8">
                  <c:v>289.3</c:v>
                </c:pt>
                <c:pt idx="9">
                  <c:v>281.1</c:v>
                </c:pt>
                <c:pt idx="10">
                  <c:v>269.5</c:v>
                </c:pt>
                <c:pt idx="11">
                  <c:v>256.4</c:v>
                </c:pt>
                <c:pt idx="12">
                  <c:v>243.3</c:v>
                </c:pt>
                <c:pt idx="13">
                  <c:v>231.1</c:v>
                </c:pt>
                <c:pt idx="14">
                  <c:v>220.2</c:v>
                </c:pt>
                <c:pt idx="15">
                  <c:v>210.8</c:v>
                </c:pt>
                <c:pt idx="16">
                  <c:v>202.9</c:v>
                </c:pt>
                <c:pt idx="17">
                  <c:v>196.4</c:v>
                </c:pt>
                <c:pt idx="18">
                  <c:v>191</c:v>
                </c:pt>
                <c:pt idx="19">
                  <c:v>186.7</c:v>
                </c:pt>
                <c:pt idx="20">
                  <c:v>183.1</c:v>
                </c:pt>
                <c:pt idx="21">
                  <c:v>180.2</c:v>
                </c:pt>
                <c:pt idx="22">
                  <c:v>177.8</c:v>
                </c:pt>
                <c:pt idx="23">
                  <c:v>175.8</c:v>
                </c:pt>
                <c:pt idx="24">
                  <c:v>174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Type 2 diabetes + 15-min walk</c:v>
                </c:pt>
              </c:strCache>
            </c:strRef>
          </c:tx>
          <c:spPr>
            <a:solidFill>
              <a:srgbClr val="13294B"/>
            </a:solidFill>
            <a:ln w="28575" cap="flat">
              <a:solidFill>
                <a:srgbClr val="13294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3294B"/>
              </a:solidFill>
              <a:ln w="9525" cap="flat">
                <a:solidFill>
                  <a:srgbClr val="13294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  <c:pt idx="5">
                    <c:v>50</c:v>
                  </c:pt>
                  <c:pt idx="6">
                    <c:v>60</c:v>
                  </c:pt>
                  <c:pt idx="7">
                    <c:v>70</c:v>
                  </c:pt>
                  <c:pt idx="8">
                    <c:v>80</c:v>
                  </c:pt>
                  <c:pt idx="9">
                    <c:v>90</c:v>
                  </c:pt>
                  <c:pt idx="10">
                    <c:v>100</c:v>
                  </c:pt>
                  <c:pt idx="11">
                    <c:v>110</c:v>
                  </c:pt>
                  <c:pt idx="12">
                    <c:v>120</c:v>
                  </c:pt>
                  <c:pt idx="13">
                    <c:v>130</c:v>
                  </c:pt>
                  <c:pt idx="14">
                    <c:v>140</c:v>
                  </c:pt>
                  <c:pt idx="15">
                    <c:v>150</c:v>
                  </c:pt>
                  <c:pt idx="16">
                    <c:v>160</c:v>
                  </c:pt>
                  <c:pt idx="17">
                    <c:v>170</c:v>
                  </c:pt>
                  <c:pt idx="18">
                    <c:v>180</c:v>
                  </c:pt>
                  <c:pt idx="19">
                    <c:v>190</c:v>
                  </c:pt>
                  <c:pt idx="20">
                    <c:v>200</c:v>
                  </c:pt>
                  <c:pt idx="21">
                    <c:v>210</c:v>
                  </c:pt>
                  <c:pt idx="22">
                    <c:v>220</c:v>
                  </c:pt>
                  <c:pt idx="23">
                    <c:v>230</c:v>
                  </c:pt>
                  <c:pt idx="24">
                    <c:v>240</c:v>
                  </c:pt>
                </c:lvl>
              </c:multiLvlStrCache>
            </c:multiLvlStrRef>
          </c:cat>
          <c:val>
            <c:numRef>
              <c:f>Sheet1!$E$2:$E$26</c:f>
              <c:numCache>
                <c:formatCode>General</c:formatCode>
                <c:ptCount val="25"/>
                <c:pt idx="0">
                  <c:v>150.2</c:v>
                </c:pt>
                <c:pt idx="1">
                  <c:v>150.2</c:v>
                </c:pt>
                <c:pt idx="2">
                  <c:v>165.1</c:v>
                </c:pt>
                <c:pt idx="3">
                  <c:v>201.7</c:v>
                </c:pt>
                <c:pt idx="4">
                  <c:v>237.4</c:v>
                </c:pt>
                <c:pt idx="5">
                  <c:v>255.2</c:v>
                </c:pt>
                <c:pt idx="6">
                  <c:v>262.9</c:v>
                </c:pt>
                <c:pt idx="7">
                  <c:v>267.5</c:v>
                </c:pt>
                <c:pt idx="8">
                  <c:v>267.3</c:v>
                </c:pt>
                <c:pt idx="9">
                  <c:v>262.9</c:v>
                </c:pt>
                <c:pt idx="10">
                  <c:v>255.5</c:v>
                </c:pt>
                <c:pt idx="11">
                  <c:v>246.4</c:v>
                </c:pt>
                <c:pt idx="12">
                  <c:v>236.7</c:v>
                </c:pt>
                <c:pt idx="13">
                  <c:v>227.1</c:v>
                </c:pt>
                <c:pt idx="14">
                  <c:v>218.2</c:v>
                </c:pt>
                <c:pt idx="15">
                  <c:v>210.3</c:v>
                </c:pt>
                <c:pt idx="16">
                  <c:v>203.3</c:v>
                </c:pt>
                <c:pt idx="17">
                  <c:v>197.4</c:v>
                </c:pt>
                <c:pt idx="18">
                  <c:v>192.3</c:v>
                </c:pt>
                <c:pt idx="19">
                  <c:v>188.1</c:v>
                </c:pt>
                <c:pt idx="20">
                  <c:v>184.6</c:v>
                </c:pt>
                <c:pt idx="21">
                  <c:v>181.6</c:v>
                </c:pt>
                <c:pt idx="22">
                  <c:v>179.1</c:v>
                </c:pt>
                <c:pt idx="23">
                  <c:v>176.9</c:v>
                </c:pt>
                <c:pt idx="24">
                  <c:v>175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2514E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2514E"/>
                    </a:solidFill>
                    <a:latin typeface="+mn-lt"/>
                  </a:rPr>
                  <a:t>Minutes after the meal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3C2B7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9878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in val="60"/>
        </c:scaling>
        <c:delete val="0"/>
        <c:axPos val="l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2514E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2514E"/>
                    </a:solidFill>
                    <a:latin typeface="+mn-lt"/>
                  </a:rPr>
                  <a:t>Glucose (mg/dL)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9878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2514E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0B0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B0B0B"/>
                </a:solidFill>
                <a:latin typeface="+mn-lt"/>
              </a:rPr>
              <a:t>Forecast RMSE on unseen patients (mg/dL, lower is better)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MadhuTwin hybrid</c:v>
                </c:pt>
              </c:strCache>
            </c:strRef>
          </c:tx>
          <c:spPr>
            <a:solidFill>
              <a:srgbClr val="2A78D6"/>
            </a:solidFill>
            <a:ln w="3175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30 min</c:v>
                  </c:pt>
                  <c:pt idx="1">
                    <c:v>60 min</c:v>
                  </c:pt>
                  <c:pt idx="2">
                    <c:v>90 min</c:v>
                  </c:pt>
                  <c:pt idx="3">
                    <c:v>120 min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16.9</c:v>
                </c:pt>
                <c:pt idx="1">
                  <c:v>23.7</c:v>
                </c:pt>
                <c:pt idx="2">
                  <c:v>26.8</c:v>
                </c:pt>
                <c:pt idx="3">
                  <c:v>28.2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Fusion (streams + EHR)</c:v>
                </c:pt>
              </c:strCache>
            </c:strRef>
          </c:tx>
          <c:spPr>
            <a:solidFill>
              <a:srgbClr val="EB6834"/>
            </a:solidFill>
            <a:ln w="3175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30 min</c:v>
                  </c:pt>
                  <c:pt idx="1">
                    <c:v>60 min</c:v>
                  </c:pt>
                  <c:pt idx="2">
                    <c:v>90 min</c:v>
                  </c:pt>
                  <c:pt idx="3">
                    <c:v>120 min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16.4</c:v>
                </c:pt>
                <c:pt idx="1">
                  <c:v>23.4</c:v>
                </c:pt>
                <c:pt idx="2">
                  <c:v>26.3</c:v>
                </c:pt>
                <c:pt idx="3">
                  <c:v>28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Twin only (physiology)</c:v>
                </c:pt>
              </c:strCache>
            </c:strRef>
          </c:tx>
          <c:spPr>
            <a:solidFill>
              <a:srgbClr val="1BAF7A"/>
            </a:solidFill>
            <a:ln w="3175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30 min</c:v>
                  </c:pt>
                  <c:pt idx="1">
                    <c:v>60 min</c:v>
                  </c:pt>
                  <c:pt idx="2">
                    <c:v>90 min</c:v>
                  </c:pt>
                  <c:pt idx="3">
                    <c:v>120 min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23.4</c:v>
                </c:pt>
                <c:pt idx="1">
                  <c:v>30.1</c:v>
                </c:pt>
                <c:pt idx="2">
                  <c:v>32.5</c:v>
                </c:pt>
                <c:pt idx="3">
                  <c:v>33.4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Persistence</c:v>
                </c:pt>
              </c:strCache>
            </c:strRef>
          </c:tx>
          <c:spPr>
            <a:solidFill>
              <a:srgbClr val="898781"/>
            </a:solidFill>
            <a:ln w="31750" cap="flat">
              <a:solidFill>
                <a:srgbClr val="89878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98781"/>
              </a:solidFill>
              <a:ln w="9525" cap="flat">
                <a:solidFill>
                  <a:srgbClr val="89878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30 min</c:v>
                  </c:pt>
                  <c:pt idx="1">
                    <c:v>60 min</c:v>
                  </c:pt>
                  <c:pt idx="2">
                    <c:v>90 min</c:v>
                  </c:pt>
                  <c:pt idx="3">
                    <c:v>120 min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19.8</c:v>
                </c:pt>
                <c:pt idx="1">
                  <c:v>28.7</c:v>
                </c:pt>
                <c:pt idx="2">
                  <c:v>34.4</c:v>
                </c:pt>
                <c:pt idx="3">
                  <c:v>38.5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3C2B7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9878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9878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2514E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0B0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B0B0B"/>
                </a:solidFill>
                <a:latin typeface="+mn-lt"/>
              </a:rPr>
              <a:t>Hyperglycaemia onset within 2 h: AUROC by input streams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Comparators</c:v>
                </c:pt>
              </c:strCache>
            </c:strRef>
          </c:tx>
          <c:spPr>
            <a:solidFill>
              <a:srgbClr val="C3C2B7"/>
            </a:solidFill>
            <a:effectLst/>
          </c:spPr>
          <c:invertIfNegative val="0"/>
          <c:dLbls>
            <c:numFmt formatCode="0.00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B0B0B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EHR only</c:v>
                  </c:pt>
                  <c:pt idx="1">
                    <c:v>CGM only</c:v>
                  </c:pt>
                  <c:pt idx="2">
                    <c:v>Wearable streams</c:v>
                  </c:pt>
                  <c:pt idx="3">
                    <c:v>Fusion (streams + EHR)</c:v>
                  </c:pt>
                  <c:pt idx="4">
                    <c:v>MadhuTwin hybrid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0.677</c:v>
                </c:pt>
                <c:pt idx="1">
                  <c:v>0.827</c:v>
                </c:pt>
                <c:pt idx="2">
                  <c:v>0.839</c:v>
                </c:pt>
                <c:pt idx="3">
                  <c:v>0.824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MadhuTwin hybrid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B0B0B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EHR only</c:v>
                  </c:pt>
                  <c:pt idx="1">
                    <c:v>CGM only</c:v>
                  </c:pt>
                  <c:pt idx="2">
                    <c:v>Wearable streams</c:v>
                  </c:pt>
                  <c:pt idx="3">
                    <c:v>Fusion (streams + EHR)</c:v>
                  </c:pt>
                  <c:pt idx="4">
                    <c:v>MadhuTwin hybrid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0.827</c:v>
                </c:pt>
              </c:numCache>
            </c:numRef>
          </c:val>
        </c:ser>
        <c:dLbls>
          <c:numFmt formatCode="0.000;;;" sourceLinked="0"/>
          <c:txPr>
            <a:bodyPr/>
            <a:lstStyle/>
            <a:p>
              <a:pPr>
                <a:defRPr b="0" i="0" strike="noStrike" sz="1100" u="none">
                  <a:solidFill>
                    <a:srgbClr val="0B0B0B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3C2B7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9878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.5"/>
        </c:scaling>
        <c:delete val="0"/>
        <c:axPos val="b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9878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0B0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B0B0B"/>
                </a:solidFill>
                <a:latin typeface="+mn-lt"/>
              </a:rPr>
              <a:t>Day-zero personalisation: twin 2-h RMSE vs onboarding days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EHR-informed prior</c:v>
                </c:pt>
              </c:strCache>
            </c:strRef>
          </c:tx>
          <c:spPr>
            <a:solidFill>
              <a:srgbClr val="2A78D6"/>
            </a:solidFill>
            <a:ln w="3175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0 d</c:v>
                  </c:pt>
                  <c:pt idx="1">
                    <c:v>0.5 d</c:v>
                  </c:pt>
                  <c:pt idx="2">
                    <c:v>1 d</c:v>
                  </c:pt>
                  <c:pt idx="3">
                    <c:v>2 d</c:v>
                  </c:pt>
                  <c:pt idx="4">
                    <c:v>4 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42.5</c:v>
                </c:pt>
                <c:pt idx="1">
                  <c:v>40.4</c:v>
                </c:pt>
                <c:pt idx="2">
                  <c:v>36.9</c:v>
                </c:pt>
                <c:pt idx="3">
                  <c:v>34.3</c:v>
                </c:pt>
                <c:pt idx="4">
                  <c:v>32.8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Population prior</c:v>
                </c:pt>
              </c:strCache>
            </c:strRef>
          </c:tx>
          <c:spPr>
            <a:solidFill>
              <a:srgbClr val="EB6834"/>
            </a:solidFill>
            <a:ln w="3175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0 d</c:v>
                  </c:pt>
                  <c:pt idx="1">
                    <c:v>0.5 d</c:v>
                  </c:pt>
                  <c:pt idx="2">
                    <c:v>1 d</c:v>
                  </c:pt>
                  <c:pt idx="3">
                    <c:v>2 d</c:v>
                  </c:pt>
                  <c:pt idx="4">
                    <c:v>4 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53.6</c:v>
                </c:pt>
                <c:pt idx="1">
                  <c:v>41.3</c:v>
                </c:pt>
                <c:pt idx="2">
                  <c:v>36.8</c:v>
                </c:pt>
                <c:pt idx="3">
                  <c:v>34.4</c:v>
                </c:pt>
                <c:pt idx="4">
                  <c:v>32.7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3C2B7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9878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25"/>
        </c:scaling>
        <c:delete val="0"/>
        <c:axPos val="l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9878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2514E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0B0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B0B0B"/>
                </a:solidFill>
                <a:latin typeface="+mn-lt"/>
              </a:rPr>
              <a:t>Personal meal-response prediction (Pearson r, 664 unseen meals)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Comparators</c:v>
                </c:pt>
              </c:strCache>
            </c:strRef>
          </c:tx>
          <c:spPr>
            <a:solidFill>
              <a:srgbClr val="C3C2B7"/>
            </a:solidFill>
            <a:effectLst/>
          </c:spPr>
          <c:invertIfNegative val="0"/>
          <c:dLbls>
            <c:numFmt formatCode="0.00;-0.00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B0B0B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Carbs only (linear)</c:v>
                  </c:pt>
                  <c:pt idx="1">
                    <c:v>Macros (linear)</c:v>
                  </c:pt>
                  <c:pt idx="2">
                    <c:v>Twin only (physiology)</c:v>
                  </c:pt>
                  <c:pt idx="3">
                    <c:v>Fusion ML (no twin)</c:v>
                  </c:pt>
                  <c:pt idx="4">
                    <c:v>MadhuTwin hybrid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-0.12</c:v>
                </c:pt>
                <c:pt idx="1">
                  <c:v>0.15</c:v>
                </c:pt>
                <c:pt idx="2">
                  <c:v>0.26</c:v>
                </c:pt>
                <c:pt idx="3">
                  <c:v>0.57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MadhuTwin hybrid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;-0.00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B0B0B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Carbs only (linear)</c:v>
                  </c:pt>
                  <c:pt idx="1">
                    <c:v>Macros (linear)</c:v>
                  </c:pt>
                  <c:pt idx="2">
                    <c:v>Twin only (physiology)</c:v>
                  </c:pt>
                  <c:pt idx="3">
                    <c:v>Fusion ML (no twin)</c:v>
                  </c:pt>
                  <c:pt idx="4">
                    <c:v>MadhuTwin hybrid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0.61</c:v>
                </c:pt>
              </c:numCache>
            </c:numRef>
          </c:val>
        </c:ser>
        <c:dLbls>
          <c:numFmt formatCode="0.00;-0.00;;" sourceLinked="0"/>
          <c:txPr>
            <a:bodyPr/>
            <a:lstStyle/>
            <a:p>
              <a:pPr>
                <a:defRPr b="0" i="0" strike="noStrike" sz="1100" u="none">
                  <a:solidFill>
                    <a:srgbClr val="0B0B0B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3C2B7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9878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-0.2"/>
        </c:scaling>
        <c:delete val="0"/>
        <c:axPos val="b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9878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introduce Ramesh, the reactive-care problem, and MadhuTwin. Madhu comes from madhumeha, the classical Indian name for diabetes.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ICMR-INDIAB numbers. The clinic sees a snapshot; the harm happens in between.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Extended Bergman minimal model, numba-compiled: thousands of simulations per second on a laptop.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Replay the Ramesh story live in the dashboard; reveal what actually happened.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1329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48840"/>
            <a:ext cx="8961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29000"/>
            <a:ext cx="89611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C9D7EA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781"/>
                </a:solidFill>
              </a:rPr>
              <a:t>MadhuTwin  ·  Anish Karthik Ayyagari, IIT Kharagpur  ·  Digital Twin Challenge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329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74720"/>
            <a:ext cx="10058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C9D7EA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EA3C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6-1.png"/><Relationship Id="rId3" Type="http://schemas.openxmlformats.org/officeDocument/2006/relationships/image" Target="../media/image-6-2.png"/><Relationship Id="rId4" Type="http://schemas.openxmlformats.org/officeDocument/2006/relationships/image" Target="../media/image-6-3.png"/><Relationship Id="rId5" Type="http://schemas.openxmlformats.org/officeDocument/2006/relationships/image" Target="../media/image-6-4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"/>
            <a:ext cx="822960" cy="82296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4884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MadhuTwin</a:t>
            </a:r>
            <a:endParaRPr lang="en-US" sz="5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429000"/>
            <a:ext cx="8961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C9D7EA"/>
                </a:solidFill>
              </a:rPr>
              <a:t>A hybrid physiological–AI digital twin that predicts glycaemic adverse events in type 2 diabetes, built for India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5778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Anish Karthik Ayyagari  ·  Indian Institute of Technology Kharagpur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943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EA3C4"/>
                </a:solidFill>
              </a:rPr>
              <a:t>Digital Twin Challenge 2026  ·  Happiest Health Reimagining and Reforming Healthcare in India Summit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About the builder</a:t>
            </a:r>
            <a:endParaRPr lang="en-US" sz="3000" dirty="0"/>
          </a:p>
        </p:txBody>
      </p:sp>
      <p:sp>
        <p:nvSpPr>
          <p:cNvPr id="3" name="profile card"/>
          <p:cNvSpPr/>
          <p:nvPr/>
        </p:nvSpPr>
        <p:spPr>
          <a:xfrm>
            <a:off x="548640" y="1508760"/>
            <a:ext cx="4206240" cy="4343400"/>
          </a:xfrm>
          <a:prstGeom prst="roundRect">
            <a:avLst>
              <a:gd name="adj" fmla="val 2609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4" name="initials circle"/>
          <p:cNvSpPr/>
          <p:nvPr/>
        </p:nvSpPr>
        <p:spPr>
          <a:xfrm>
            <a:off x="914400" y="1828800"/>
            <a:ext cx="1097280" cy="109728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8288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AK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1546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Anish Karthik Ayyagari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0233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7EA"/>
                </a:solidFill>
              </a:rPr>
              <a:t>Indian Institute of Technology Kharagpur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754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A3C4"/>
                </a:solidFill>
              </a:rPr>
              <a:t>Solo entrant and team leader</a:t>
            </a:r>
            <a:endParaRPr lang="en-US" sz="1300" dirty="0"/>
          </a:p>
        </p:txBody>
      </p:sp>
      <p:sp>
        <p:nvSpPr>
          <p:cNvPr id="9" name="Physiological twin circle"/>
          <p:cNvSpPr/>
          <p:nvPr/>
        </p:nvSpPr>
        <p:spPr>
          <a:xfrm>
            <a:off x="5120640" y="1554480"/>
            <a:ext cx="548640" cy="548640"/>
          </a:xfrm>
          <a:prstGeom prst="ellipse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pic>
        <p:nvPicPr>
          <p:cNvPr id="10" name="Physiological twi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2314" y="1686154"/>
            <a:ext cx="285293" cy="285293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852160" y="1508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</a:rPr>
              <a:t>Physiological twin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852160" y="1892808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Glucose-insulin model with Indian meals and medicines</a:t>
            </a:r>
            <a:endParaRPr lang="en-US" sz="1200" dirty="0"/>
          </a:p>
        </p:txBody>
      </p:sp>
      <p:sp>
        <p:nvSpPr>
          <p:cNvPr id="13" name="Personalisation circle"/>
          <p:cNvSpPr/>
          <p:nvPr/>
        </p:nvSpPr>
        <p:spPr>
          <a:xfrm>
            <a:off x="8412480" y="1554480"/>
            <a:ext cx="548640" cy="548640"/>
          </a:xfrm>
          <a:prstGeom prst="ellipse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pic>
        <p:nvPicPr>
          <p:cNvPr id="14" name="Personalisati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4154" y="1686154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144000" y="1508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</a:rPr>
              <a:t>Personalisation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9144000" y="1892808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EHR prior × sensor likelihood, MAP fit</a:t>
            </a:r>
            <a:endParaRPr lang="en-US" sz="1200" dirty="0"/>
          </a:p>
        </p:txBody>
      </p:sp>
      <p:sp>
        <p:nvSpPr>
          <p:cNvPr id="17" name="Hybrid ML + validation circle"/>
          <p:cNvSpPr/>
          <p:nvPr/>
        </p:nvSpPr>
        <p:spPr>
          <a:xfrm>
            <a:off x="5120640" y="3035808"/>
            <a:ext cx="548640" cy="548640"/>
          </a:xfrm>
          <a:prstGeom prst="ellipse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pic>
        <p:nvPicPr>
          <p:cNvPr id="18" name="Hybrid ML + validati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2314" y="3167482"/>
            <a:ext cx="285293" cy="28529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852160" y="29900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</a:rPr>
              <a:t>Hybrid ML + validation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852160" y="3374136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Leave-patients-out study on real CGMacros data</a:t>
            </a:r>
            <a:endParaRPr lang="en-US" sz="1200" dirty="0"/>
          </a:p>
        </p:txBody>
      </p:sp>
      <p:sp>
        <p:nvSpPr>
          <p:cNvPr id="21" name="Bharat synthetic cohort circle"/>
          <p:cNvSpPr/>
          <p:nvPr/>
        </p:nvSpPr>
        <p:spPr>
          <a:xfrm>
            <a:off x="8412480" y="3035808"/>
            <a:ext cx="548640" cy="548640"/>
          </a:xfrm>
          <a:prstGeom prst="ellipse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pic>
        <p:nvPicPr>
          <p:cNvPr id="22" name="Bharat synthetic cohor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4154" y="3167482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144000" y="29900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</a:rPr>
              <a:t>Bharat synthetic cohort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9144000" y="3374136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80 fictional Indian patients with full EHR and wearables</a:t>
            </a:r>
            <a:endParaRPr lang="en-US" sz="1200" dirty="0"/>
          </a:p>
        </p:txBody>
      </p:sp>
      <p:sp>
        <p:nvSpPr>
          <p:cNvPr id="25" name="API and copilot circle"/>
          <p:cNvSpPr/>
          <p:nvPr/>
        </p:nvSpPr>
        <p:spPr>
          <a:xfrm>
            <a:off x="5120640" y="4517136"/>
            <a:ext cx="548640" cy="548640"/>
          </a:xfrm>
          <a:prstGeom prst="ellipse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pic>
        <p:nvPicPr>
          <p:cNvPr id="26" name="API and copilo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2314" y="4648810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852160" y="44714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</a:rPr>
              <a:t>API and copilot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5852160" y="4855464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FastAPI service, FHIR export, grounded summaries</a:t>
            </a:r>
            <a:endParaRPr lang="en-US" sz="1200" dirty="0"/>
          </a:p>
        </p:txBody>
      </p:sp>
      <p:sp>
        <p:nvSpPr>
          <p:cNvPr id="29" name="Clinician dashboard circle"/>
          <p:cNvSpPr/>
          <p:nvPr/>
        </p:nvSpPr>
        <p:spPr>
          <a:xfrm>
            <a:off x="8412480" y="4517136"/>
            <a:ext cx="548640" cy="548640"/>
          </a:xfrm>
          <a:prstGeom prst="ellipse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pic>
        <p:nvPicPr>
          <p:cNvPr id="30" name="Clinician dashboard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4154" y="4648810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144000" y="44714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</a:rPr>
              <a:t>Clinician dashboard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9144000" y="4855464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React triage, live twin, what-if, AGP, evidence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India's diabetes burden is vast, and mostly invisible between clinic visits</a:t>
            </a:r>
            <a:endParaRPr lang="en-US" sz="3000" dirty="0"/>
          </a:p>
        </p:txBody>
      </p:sp>
      <p:sp>
        <p:nvSpPr>
          <p:cNvPr id="3" name="stat 0"/>
          <p:cNvSpPr/>
          <p:nvPr/>
        </p:nvSpPr>
        <p:spPr>
          <a:xfrm>
            <a:off x="548640" y="1554480"/>
            <a:ext cx="2560320" cy="1874520"/>
          </a:xfrm>
          <a:prstGeom prst="roundRect">
            <a:avLst>
              <a:gd name="adj" fmla="val 585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13294B"/>
                </a:solidFill>
              </a:rPr>
              <a:t>101 M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231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people living with diabetes</a:t>
            </a:r>
            <a:endParaRPr lang="en-US" sz="1300" dirty="0"/>
          </a:p>
        </p:txBody>
      </p:sp>
      <p:sp>
        <p:nvSpPr>
          <p:cNvPr id="6" name="stat 1"/>
          <p:cNvSpPr/>
          <p:nvPr/>
        </p:nvSpPr>
        <p:spPr>
          <a:xfrm>
            <a:off x="3337560" y="1554480"/>
            <a:ext cx="2560320" cy="1874520"/>
          </a:xfrm>
          <a:prstGeom prst="roundRect">
            <a:avLst>
              <a:gd name="adj" fmla="val 585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11880" y="16916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13294B"/>
                </a:solidFill>
              </a:rPr>
              <a:t>136 M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24231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people with prediabetes</a:t>
            </a:r>
            <a:endParaRPr lang="en-US" sz="1300" dirty="0"/>
          </a:p>
        </p:txBody>
      </p:sp>
      <p:sp>
        <p:nvSpPr>
          <p:cNvPr id="9" name="stat 2"/>
          <p:cNvSpPr/>
          <p:nvPr/>
        </p:nvSpPr>
        <p:spPr>
          <a:xfrm>
            <a:off x="6126480" y="1554480"/>
            <a:ext cx="2560320" cy="1874520"/>
          </a:xfrm>
          <a:prstGeom prst="roundRect">
            <a:avLst>
              <a:gd name="adj" fmla="val 585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16916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13294B"/>
                </a:solidFill>
              </a:rPr>
              <a:t>11.4 %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4231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national diabetes prevalence</a:t>
            </a:r>
            <a:endParaRPr lang="en-US" sz="1300" dirty="0"/>
          </a:p>
        </p:txBody>
      </p:sp>
      <p:sp>
        <p:nvSpPr>
          <p:cNvPr id="12" name="stat 3"/>
          <p:cNvSpPr/>
          <p:nvPr/>
        </p:nvSpPr>
        <p:spPr>
          <a:xfrm>
            <a:off x="8915400" y="1554480"/>
            <a:ext cx="2560320" cy="1874520"/>
          </a:xfrm>
          <a:prstGeom prst="roundRect">
            <a:avLst>
              <a:gd name="adj" fmla="val 585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89720" y="16916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13294B"/>
                </a:solidFill>
              </a:rPr>
              <a:t>15.3 %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9189720" y="24231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prediabetes prevalence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5661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98781"/>
                </a:solidFill>
              </a:rPr>
              <a:t>Source: ICMR-INDIAB, Anjana et al., Lancet Diabetes &amp; Endocrinology 2023 (113,043 adults, 31 states/UTs).</a:t>
            </a:r>
            <a:endParaRPr lang="en-US" sz="1000" dirty="0"/>
          </a:p>
        </p:txBody>
      </p:sp>
      <p:sp>
        <p:nvSpPr>
          <p:cNvPr id="16" name="calendar icon circle"/>
          <p:cNvSpPr/>
          <p:nvPr/>
        </p:nvSpPr>
        <p:spPr>
          <a:xfrm>
            <a:off x="548640" y="4160520"/>
            <a:ext cx="566928" cy="566928"/>
          </a:xfrm>
          <a:prstGeom prst="ellipse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pic>
        <p:nvPicPr>
          <p:cNvPr id="17" name="calendar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4296583"/>
            <a:ext cx="294803" cy="294803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325880" y="416052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</a:rPr>
              <a:t>Care is reactive. </a:t>
            </a:r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</a:rPr>
              <a:t>A quarterly HbA1c averages three months into one number. It cannot show the post-meal spikes or the afternoon lows that drive complications and emergencies.</a:t>
            </a:r>
            <a:endParaRPr lang="en-US" sz="1500" dirty="0"/>
          </a:p>
        </p:txBody>
      </p:sp>
      <p:sp>
        <p:nvSpPr>
          <p:cNvPr id="19" name="sensor icon circle"/>
          <p:cNvSpPr/>
          <p:nvPr/>
        </p:nvSpPr>
        <p:spPr>
          <a:xfrm>
            <a:off x="6355080" y="4160520"/>
            <a:ext cx="566928" cy="566928"/>
          </a:xfrm>
          <a:prstGeom prst="ellipse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pic>
        <p:nvPicPr>
          <p:cNvPr id="20" name="sensor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1143" y="4296583"/>
            <a:ext cx="294803" cy="294803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32320" y="416052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</a:rPr>
              <a:t>Sensors are arriving; decisions are not. </a:t>
            </a:r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</a:rPr>
              <a:t>CGMs and smartwatches now generate thousands of readings per patient, but doctors receive data dumps, not early warnings.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Two adverse events doctors rarely see in time</a:t>
            </a:r>
            <a:endParaRPr lang="en-US" sz="3000" dirty="0"/>
          </a:p>
        </p:txBody>
      </p:sp>
      <p:sp>
        <p:nvSpPr>
          <p:cNvPr id="3" name="spike card"/>
          <p:cNvSpPr/>
          <p:nvPr/>
        </p:nvSpPr>
        <p:spPr>
          <a:xfrm>
            <a:off x="548640" y="1554480"/>
            <a:ext cx="5394960" cy="4023360"/>
          </a:xfrm>
          <a:prstGeom prst="roundRect">
            <a:avLst>
              <a:gd name="adj" fmla="val 272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rice icon circle"/>
          <p:cNvSpPr/>
          <p:nvPr/>
        </p:nvSpPr>
        <p:spPr>
          <a:xfrm>
            <a:off x="868680" y="1828800"/>
            <a:ext cx="685800" cy="68580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5" name="ri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9339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90195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</a:rPr>
              <a:t>Post-meal spikes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74320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52514E"/>
                </a:solidFill>
              </a:rPr>
              <a:t>High-glycaemic-load meals (rice, refined wheat, sweets, tea with sugar) push glucose above 180–250 mg/dL for hours.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52514E"/>
                </a:solidFill>
              </a:rPr>
              <a:t>Post-prandial excess drives a large part of the HbA1c gap and is linked to cardiovascular risk.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52514E"/>
                </a:solidFill>
              </a:rPr>
              <a:t>The response to the same meal differs from person to person: one diet plan does not fit all.</a:t>
            </a:r>
            <a:endParaRPr lang="en-US" sz="1500" dirty="0"/>
          </a:p>
        </p:txBody>
      </p:sp>
      <p:sp>
        <p:nvSpPr>
          <p:cNvPr id="8" name="hypo card"/>
          <p:cNvSpPr/>
          <p:nvPr/>
        </p:nvSpPr>
        <p:spPr>
          <a:xfrm>
            <a:off x="6245352" y="1554480"/>
            <a:ext cx="5394960" cy="4023360"/>
          </a:xfrm>
          <a:prstGeom prst="roundRect">
            <a:avLst>
              <a:gd name="adj" fmla="val 272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9" name="warning icon circle"/>
          <p:cNvSpPr/>
          <p:nvPr/>
        </p:nvSpPr>
        <p:spPr>
          <a:xfrm>
            <a:off x="6565392" y="1828800"/>
            <a:ext cx="685800" cy="685800"/>
          </a:xfrm>
          <a:prstGeom prst="ellipse">
            <a:avLst/>
          </a:prstGeom>
          <a:solidFill>
            <a:srgbClr val="D03B3B"/>
          </a:solidFill>
          <a:ln w="12700">
            <a:solidFill>
              <a:srgbClr val="D03B3B"/>
            </a:solidFill>
            <a:prstDash val="solid"/>
          </a:ln>
        </p:spPr>
      </p:sp>
      <p:pic>
        <p:nvPicPr>
          <p:cNvPr id="10" name="warning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984" y="199339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34072" y="190195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</a:rPr>
              <a:t>Drug-induced hypoglycaemia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565392" y="274320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52514E"/>
                </a:solidFill>
              </a:rPr>
              <a:t>Sulfonylureas remain widely prescribed in India because they are inexpensive and effective.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52514E"/>
                </a:solidFill>
              </a:rPr>
              <a:t>Skipped meals, unplanned exertion, older age and CKD turn them into a leading cause of severe lows.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52514E"/>
                </a:solidFill>
              </a:rPr>
              <a:t>Fasting days and late meals make the risk patient-specific and time-specific.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MadhuTwin: a living model of each patient, fed by their record and their sensors</a:t>
            </a:r>
            <a:endParaRPr lang="en-US" sz="3000" dirty="0"/>
          </a:p>
        </p:txBody>
      </p:sp>
      <p:sp>
        <p:nvSpPr>
          <p:cNvPr id="3" name="Static record (EHR)"/>
          <p:cNvSpPr/>
          <p:nvPr/>
        </p:nvSpPr>
        <p:spPr>
          <a:xfrm>
            <a:off x="548640" y="1508760"/>
            <a:ext cx="3200400" cy="2057400"/>
          </a:xfrm>
          <a:prstGeom prst="roundRect">
            <a:avLst>
              <a:gd name="adj" fmla="val 533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Static record (EHR) icon circle"/>
          <p:cNvSpPr/>
          <p:nvPr/>
        </p:nvSpPr>
        <p:spPr>
          <a:xfrm>
            <a:off x="777240" y="1737360"/>
            <a:ext cx="502920" cy="502920"/>
          </a:xfrm>
          <a:prstGeom prst="ellipse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pic>
        <p:nvPicPr>
          <p:cNvPr id="5" name="Static record (EHR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85806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7830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</a:rPr>
              <a:t>Static record (EHR)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37744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52514E"/>
                </a:solidFill>
              </a:rPr>
              <a:t>Demographics, diagnoses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52514E"/>
                </a:solidFill>
              </a:rPr>
              <a:t>HbA1c, fasting glucose and insulin, lipids, eGFR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52514E"/>
                </a:solidFill>
              </a:rPr>
              <a:t>Medications, TCF7L2, polygenic risk</a:t>
            </a:r>
            <a:endParaRPr lang="en-US" sz="1250" dirty="0"/>
          </a:p>
        </p:txBody>
      </p:sp>
      <p:sp>
        <p:nvSpPr>
          <p:cNvPr id="8" name="Live wearable streams"/>
          <p:cNvSpPr/>
          <p:nvPr/>
        </p:nvSpPr>
        <p:spPr>
          <a:xfrm>
            <a:off x="548640" y="3749040"/>
            <a:ext cx="3200400" cy="2057400"/>
          </a:xfrm>
          <a:prstGeom prst="roundRect">
            <a:avLst>
              <a:gd name="adj" fmla="val 533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9" name="Live wearable streams icon circle"/>
          <p:cNvSpPr/>
          <p:nvPr/>
        </p:nvSpPr>
        <p:spPr>
          <a:xfrm>
            <a:off x="777240" y="3977640"/>
            <a:ext cx="502920" cy="502920"/>
          </a:xfrm>
          <a:prstGeom prst="ellipse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pic>
        <p:nvPicPr>
          <p:cNvPr id="10" name="Live wearable stream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941" y="409834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17320" y="4023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</a:rPr>
              <a:t>Live wearable streams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461772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52514E"/>
                </a:solidFill>
              </a:rPr>
              <a:t>CGM every 5 minutes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52514E"/>
                </a:solidFill>
              </a:rPr>
              <a:t>Heart rate, steps, METs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52514E"/>
                </a:solidFill>
              </a:rPr>
              <a:t>Sleep stages, HRV, meal log</a:t>
            </a:r>
            <a:endParaRPr lang="en-US" sz="1250" dirty="0"/>
          </a:p>
        </p:txBody>
      </p:sp>
      <p:sp>
        <p:nvSpPr>
          <p:cNvPr id="13" name="Digital twin"/>
          <p:cNvSpPr/>
          <p:nvPr/>
        </p:nvSpPr>
        <p:spPr>
          <a:xfrm>
            <a:off x="4343400" y="1508760"/>
            <a:ext cx="3520440" cy="4297680"/>
          </a:xfrm>
          <a:prstGeom prst="roundRect">
            <a:avLst>
              <a:gd name="adj" fmla="val 3117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14" name="Digital twin icon circle"/>
          <p:cNvSpPr/>
          <p:nvPr/>
        </p:nvSpPr>
        <p:spPr>
          <a:xfrm>
            <a:off x="4572000" y="173736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5" name="Digital twin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2701" y="185806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212080" y="1783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Digital twin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4572000" y="2377440"/>
            <a:ext cx="31089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C9D7EA"/>
                </a:solidFill>
              </a:rPr>
              <a:t>Personalised glucose–insulin physiology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C9D7EA"/>
                </a:solidFill>
              </a:rPr>
              <a:t>Indian meals and medicines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C9D7EA"/>
                </a:solidFill>
              </a:rPr>
              <a:t>Synced to every CGM reading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C9D7EA"/>
                </a:solidFill>
              </a:rPr>
              <a:t>Hybrid ML corrects the residual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C9D7EA"/>
                </a:solidFill>
              </a:rPr>
              <a:t>Calibrated uncertainty and reasons</a:t>
            </a:r>
            <a:endParaRPr lang="en-US" sz="1250" dirty="0"/>
          </a:p>
        </p:txBody>
      </p:sp>
      <p:sp>
        <p:nvSpPr>
          <p:cNvPr id="18" name="Forecast 2 h ahead"/>
          <p:cNvSpPr/>
          <p:nvPr/>
        </p:nvSpPr>
        <p:spPr>
          <a:xfrm>
            <a:off x="8458200" y="1508760"/>
            <a:ext cx="3182112" cy="1325880"/>
          </a:xfrm>
          <a:prstGeom prst="roundRect">
            <a:avLst>
              <a:gd name="adj" fmla="val 827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Forecast 2 h ahead icon circle"/>
          <p:cNvSpPr/>
          <p:nvPr/>
        </p:nvSpPr>
        <p:spPr>
          <a:xfrm>
            <a:off x="8686800" y="1737360"/>
            <a:ext cx="502920" cy="502920"/>
          </a:xfrm>
          <a:prstGeom prst="ellipse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pic>
        <p:nvPicPr>
          <p:cNvPr id="20" name="Forecast 2 h ahead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07501" y="1858061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26880" y="1783080"/>
            <a:ext cx="21762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</a:rPr>
              <a:t>Forecast 2 h ahead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8686800" y="2377440"/>
            <a:ext cx="2770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52514E"/>
                </a:solidFill>
              </a:rPr>
              <a:t>with 90 % intervals</a:t>
            </a:r>
            <a:endParaRPr lang="en-US" sz="1250" dirty="0"/>
          </a:p>
        </p:txBody>
      </p:sp>
      <p:sp>
        <p:nvSpPr>
          <p:cNvPr id="23" name="Adverse-event alerts"/>
          <p:cNvSpPr/>
          <p:nvPr/>
        </p:nvSpPr>
        <p:spPr>
          <a:xfrm>
            <a:off x="8458200" y="2990088"/>
            <a:ext cx="3182112" cy="1325880"/>
          </a:xfrm>
          <a:prstGeom prst="roundRect">
            <a:avLst>
              <a:gd name="adj" fmla="val 827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4" name="Adverse-event alerts icon circle"/>
          <p:cNvSpPr/>
          <p:nvPr/>
        </p:nvSpPr>
        <p:spPr>
          <a:xfrm>
            <a:off x="8686800" y="3218688"/>
            <a:ext cx="502920" cy="502920"/>
          </a:xfrm>
          <a:prstGeom prst="ellipse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pic>
        <p:nvPicPr>
          <p:cNvPr id="25" name="Adverse-event alerts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7501" y="3339389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326880" y="3264408"/>
            <a:ext cx="21762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</a:rPr>
              <a:t>Adverse-event alerts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8686800" y="3858768"/>
            <a:ext cx="2770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52514E"/>
                </a:solidFill>
              </a:rPr>
              <a:t>hyper, spike, hypo + why</a:t>
            </a:r>
            <a:endParaRPr lang="en-US" sz="1250" dirty="0"/>
          </a:p>
        </p:txBody>
      </p:sp>
      <p:sp>
        <p:nvSpPr>
          <p:cNvPr id="28" name="What-if simulation"/>
          <p:cNvSpPr/>
          <p:nvPr/>
        </p:nvSpPr>
        <p:spPr>
          <a:xfrm>
            <a:off x="8458200" y="4480560"/>
            <a:ext cx="3182112" cy="1325880"/>
          </a:xfrm>
          <a:prstGeom prst="roundRect">
            <a:avLst>
              <a:gd name="adj" fmla="val 827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9" name="What-if simulation icon circle"/>
          <p:cNvSpPr/>
          <p:nvPr/>
        </p:nvSpPr>
        <p:spPr>
          <a:xfrm>
            <a:off x="8686800" y="4709160"/>
            <a:ext cx="502920" cy="502920"/>
          </a:xfrm>
          <a:prstGeom prst="ellipse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pic>
        <p:nvPicPr>
          <p:cNvPr id="30" name="What-if simulation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07501" y="4829861"/>
            <a:ext cx="261518" cy="26151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326880" y="4754880"/>
            <a:ext cx="21762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</a:rPr>
              <a:t>What-if simulation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8686800" y="5349240"/>
            <a:ext cx="2770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52514E"/>
                </a:solidFill>
              </a:rPr>
              <a:t>meals, walks, sleep, drugs</a:t>
            </a:r>
            <a:endParaRPr lang="en-US" sz="1250" dirty="0"/>
          </a:p>
        </p:txBody>
      </p:sp>
      <p:sp>
        <p:nvSpPr>
          <p:cNvPr id="33" name="arrow in"/>
          <p:cNvSpPr/>
          <p:nvPr/>
        </p:nvSpPr>
        <p:spPr>
          <a:xfrm>
            <a:off x="3840480" y="2404872"/>
            <a:ext cx="411480" cy="274320"/>
          </a:xfrm>
          <a:prstGeom prst="rightArrow">
            <a:avLst/>
          </a:prstGeom>
          <a:solidFill>
            <a:srgbClr val="C3C2B7"/>
          </a:solidFill>
          <a:ln w="12700">
            <a:solidFill>
              <a:srgbClr val="C3C2B7"/>
            </a:solidFill>
            <a:prstDash val="solid"/>
          </a:ln>
        </p:spPr>
      </p:sp>
      <p:sp>
        <p:nvSpPr>
          <p:cNvPr id="34" name="arrow in"/>
          <p:cNvSpPr/>
          <p:nvPr/>
        </p:nvSpPr>
        <p:spPr>
          <a:xfrm>
            <a:off x="3840480" y="4645152"/>
            <a:ext cx="411480" cy="274320"/>
          </a:xfrm>
          <a:prstGeom prst="rightArrow">
            <a:avLst/>
          </a:prstGeom>
          <a:solidFill>
            <a:srgbClr val="C3C2B7"/>
          </a:solidFill>
          <a:ln w="12700">
            <a:solidFill>
              <a:srgbClr val="C3C2B7"/>
            </a:solidFill>
            <a:prstDash val="solid"/>
          </a:ln>
        </p:spPr>
      </p:sp>
      <p:sp>
        <p:nvSpPr>
          <p:cNvPr id="35" name="arrow out"/>
          <p:cNvSpPr/>
          <p:nvPr/>
        </p:nvSpPr>
        <p:spPr>
          <a:xfrm>
            <a:off x="7955280" y="2039112"/>
            <a:ext cx="411480" cy="274320"/>
          </a:xfrm>
          <a:prstGeom prst="rightArrow">
            <a:avLst/>
          </a:prstGeom>
          <a:solidFill>
            <a:srgbClr val="C3C2B7"/>
          </a:solidFill>
          <a:ln w="12700">
            <a:solidFill>
              <a:srgbClr val="C3C2B7"/>
            </a:solidFill>
            <a:prstDash val="solid"/>
          </a:ln>
        </p:spPr>
      </p:sp>
      <p:sp>
        <p:nvSpPr>
          <p:cNvPr id="36" name="arrow out"/>
          <p:cNvSpPr/>
          <p:nvPr/>
        </p:nvSpPr>
        <p:spPr>
          <a:xfrm>
            <a:off x="7955280" y="3520440"/>
            <a:ext cx="411480" cy="274320"/>
          </a:xfrm>
          <a:prstGeom prst="rightArrow">
            <a:avLst/>
          </a:prstGeom>
          <a:solidFill>
            <a:srgbClr val="C3C2B7"/>
          </a:solidFill>
          <a:ln w="12700">
            <a:solidFill>
              <a:srgbClr val="C3C2B7"/>
            </a:solidFill>
            <a:prstDash val="solid"/>
          </a:ln>
        </p:spPr>
      </p:sp>
      <p:sp>
        <p:nvSpPr>
          <p:cNvPr id="37" name="arrow out"/>
          <p:cNvSpPr/>
          <p:nvPr/>
        </p:nvSpPr>
        <p:spPr>
          <a:xfrm>
            <a:off x="7955280" y="5010912"/>
            <a:ext cx="411480" cy="274320"/>
          </a:xfrm>
          <a:prstGeom prst="rightArrow">
            <a:avLst/>
          </a:prstGeom>
          <a:solidFill>
            <a:srgbClr val="C3C2B7"/>
          </a:solidFill>
          <a:ln w="12700">
            <a:solidFill>
              <a:srgbClr val="C3C2B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 physiological core that understands Indian meals and medicines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417320"/>
          <a:ext cx="60350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Meal absorption circle"/>
          <p:cNvSpPr/>
          <p:nvPr/>
        </p:nvSpPr>
        <p:spPr>
          <a:xfrm>
            <a:off x="6903720" y="1508760"/>
            <a:ext cx="548640" cy="548640"/>
          </a:xfrm>
          <a:prstGeom prst="ellipse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pic>
        <p:nvPicPr>
          <p:cNvPr id="5" name="Meal absorpti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5394" y="1640434"/>
            <a:ext cx="285293" cy="285293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635240" y="14904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</a:rPr>
              <a:t>Meal absorption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7635240" y="1856232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</a:rPr>
              <a:t>Fast and slow chains; glycaemic index, fat, fibre and protein shape the curve</a:t>
            </a:r>
            <a:endParaRPr lang="en-US" sz="1250" dirty="0"/>
          </a:p>
        </p:txBody>
      </p:sp>
      <p:sp>
        <p:nvSpPr>
          <p:cNvPr id="8" name="Insulin secretion and action circle"/>
          <p:cNvSpPr/>
          <p:nvPr/>
        </p:nvSpPr>
        <p:spPr>
          <a:xfrm>
            <a:off x="6903720" y="2587752"/>
            <a:ext cx="548640" cy="548640"/>
          </a:xfrm>
          <a:prstGeom prst="ellipse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pic>
        <p:nvPicPr>
          <p:cNvPr id="9" name="Insulin secretion and acti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5394" y="2719426"/>
            <a:ext cx="285293" cy="285293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635240" y="256946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</a:rPr>
              <a:t>Insulin secretion and action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7635240" y="2935224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</a:rPr>
              <a:t>Beta-cell response, insulin sensitivity, glucose effectiveness</a:t>
            </a:r>
            <a:endParaRPr lang="en-US" sz="1250" dirty="0"/>
          </a:p>
        </p:txBody>
      </p:sp>
      <p:sp>
        <p:nvSpPr>
          <p:cNvPr id="12" name="Activity, sleep, rhythm circle"/>
          <p:cNvSpPr/>
          <p:nvPr/>
        </p:nvSpPr>
        <p:spPr>
          <a:xfrm>
            <a:off x="6903720" y="3666744"/>
            <a:ext cx="548640" cy="548640"/>
          </a:xfrm>
          <a:prstGeom prst="ellipse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pic>
        <p:nvPicPr>
          <p:cNvPr id="13" name="Activity, sleep, rhythm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5394" y="3798418"/>
            <a:ext cx="285293" cy="285293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635240" y="364845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</a:rPr>
              <a:t>Activity, sleep, rhythm</a:t>
            </a:r>
            <a:endParaRPr lang="en-US" sz="1600" dirty="0"/>
          </a:p>
        </p:txBody>
      </p:sp>
      <p:sp>
        <p:nvSpPr>
          <p:cNvPr id="15" name="Text 9"/>
          <p:cNvSpPr txBox="1"/>
          <p:nvPr/>
        </p:nvSpPr>
        <p:spPr>
          <a:xfrm>
            <a:off x="7635240" y="4014216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</a:rPr>
              <a:t>METs raise uptake; short sleep lowers sensitivity; dawn and circadian effects</a:t>
            </a:r>
            <a:endParaRPr lang="en-US" sz="1250" dirty="0"/>
          </a:p>
        </p:txBody>
      </p:sp>
      <p:sp>
        <p:nvSpPr>
          <p:cNvPr id="16" name="Medicines used in India circle"/>
          <p:cNvSpPr/>
          <p:nvPr/>
        </p:nvSpPr>
        <p:spPr>
          <a:xfrm>
            <a:off x="6903720" y="4745736"/>
            <a:ext cx="548640" cy="548640"/>
          </a:xfrm>
          <a:prstGeom prst="ellipse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pic>
        <p:nvPicPr>
          <p:cNvPr id="17" name="Medicines used in Indi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5394" y="4877410"/>
            <a:ext cx="285293" cy="285293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635240" y="472744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</a:rPr>
              <a:t>Medicines used in India</a:t>
            </a:r>
            <a:endParaRPr lang="en-US" sz="1600" dirty="0"/>
          </a:p>
        </p:txBody>
      </p:sp>
      <p:sp>
        <p:nvSpPr>
          <p:cNvPr id="19" name="Text 12"/>
          <p:cNvSpPr txBox="1"/>
          <p:nvPr/>
        </p:nvSpPr>
        <p:spPr>
          <a:xfrm>
            <a:off x="7635240" y="5093208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</a:rPr>
              <a:t>Metformin, sulfonylureas, DPP-4i (teneligliptin), SGLT2i, voglibose, pioglitazone, basal insulin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record sets the prior; the sensors personalise it</a:t>
            </a:r>
            <a:endParaRPr lang="en-US" sz="3000" dirty="0"/>
          </a:p>
        </p:txBody>
      </p:sp>
      <p:sp>
        <p:nvSpPr>
          <p:cNvPr id="3" name="step 1"/>
          <p:cNvSpPr/>
          <p:nvPr/>
        </p:nvSpPr>
        <p:spPr>
          <a:xfrm>
            <a:off x="548640" y="1508760"/>
            <a:ext cx="3520440" cy="2514600"/>
          </a:xfrm>
          <a:prstGeom prst="roundRect">
            <a:avLst>
              <a:gd name="adj" fmla="val 436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step icon 1 circle"/>
          <p:cNvSpPr/>
          <p:nvPr/>
        </p:nvSpPr>
        <p:spPr>
          <a:xfrm>
            <a:off x="822960" y="1737360"/>
            <a:ext cx="548640" cy="548640"/>
          </a:xfrm>
          <a:prstGeom prst="ellipse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pic>
        <p:nvPicPr>
          <p:cNvPr id="5" name="step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86903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231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</a:rPr>
              <a:t>1  Prior from routine labs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83464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</a:rPr>
              <a:t>HbA1c, fasting glucose and insulin (HOMA-IR, HOMA-B) and weight map to priors on the patient's physiology. Useful on day zero.</a:t>
            </a:r>
            <a:endParaRPr lang="en-US" sz="1250" dirty="0"/>
          </a:p>
        </p:txBody>
      </p:sp>
      <p:sp>
        <p:nvSpPr>
          <p:cNvPr id="8" name="step 2"/>
          <p:cNvSpPr/>
          <p:nvPr/>
        </p:nvSpPr>
        <p:spPr>
          <a:xfrm>
            <a:off x="4297680" y="1508760"/>
            <a:ext cx="3520440" cy="2514600"/>
          </a:xfrm>
          <a:prstGeom prst="roundRect">
            <a:avLst>
              <a:gd name="adj" fmla="val 436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9" name="step icon 2 circle"/>
          <p:cNvSpPr/>
          <p:nvPr/>
        </p:nvSpPr>
        <p:spPr>
          <a:xfrm>
            <a:off x="4572000" y="1737360"/>
            <a:ext cx="548640" cy="548640"/>
          </a:xfrm>
          <a:prstGeom prst="ellipse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pic>
        <p:nvPicPr>
          <p:cNvPr id="10" name="step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674" y="186903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0" y="24231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</a:rPr>
              <a:t>2  Onboarding fit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283464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</a:rPr>
              <a:t>The first days of CGM, meals and activity refine the parameters by fitting the twin's own 2-hour forecasts (MAP estimate).</a:t>
            </a:r>
            <a:endParaRPr lang="en-US" sz="1250" dirty="0"/>
          </a:p>
        </p:txBody>
      </p:sp>
      <p:sp>
        <p:nvSpPr>
          <p:cNvPr id="13" name="step 3"/>
          <p:cNvSpPr/>
          <p:nvPr/>
        </p:nvSpPr>
        <p:spPr>
          <a:xfrm>
            <a:off x="8046720" y="1508760"/>
            <a:ext cx="3520440" cy="2514600"/>
          </a:xfrm>
          <a:prstGeom prst="roundRect">
            <a:avLst>
              <a:gd name="adj" fmla="val 436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step icon 3 circle"/>
          <p:cNvSpPr/>
          <p:nvPr/>
        </p:nvSpPr>
        <p:spPr>
          <a:xfrm>
            <a:off x="8321040" y="1737360"/>
            <a:ext cx="548640" cy="548640"/>
          </a:xfrm>
          <a:prstGeom prst="ellipse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pic>
        <p:nvPicPr>
          <p:cNvPr id="15" name="step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2714" y="186903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24231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</a:rPr>
              <a:t>3  Continuous sync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283464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</a:rPr>
              <a:t>Every new CGM sample corrects the virtual patient's state; insulin, gut content and exercise effects evolve through physiology.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43434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13294B"/>
                </a:solidFill>
              </a:rPr>
              <a:t>41.9 → 29.7</a:t>
            </a:r>
            <a:endParaRPr lang="en-US" sz="32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50749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mg/dL two-hour error of the physiology alone, before vs after onboarding (real patients)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4297680" y="43434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13294B"/>
                </a:solidFill>
              </a:rPr>
              <a:t>ρ = -0.68</a:t>
            </a:r>
            <a:endParaRPr lang="en-US" sz="3200" dirty="0"/>
          </a:p>
        </p:txBody>
      </p:sp>
      <p:sp>
        <p:nvSpPr>
          <p:cNvPr id="21" name="Text 16"/>
          <p:cNvSpPr txBox="1"/>
          <p:nvPr/>
        </p:nvSpPr>
        <p:spPr>
          <a:xfrm>
            <a:off x="4297680" y="50749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twin insulin sensitivity vs lab HOMA-IR across 45 real participants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8046720" y="438912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</a:rPr>
              <a:t>Output: an interpretable phenotype. 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Insulin sensitivity, beta-cell response, disposition index, absorption speed, exercise response and dawn effect, normally needing a clamp study, estimated from data the patient already generates.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Machine learning corrects what physiology misses, with honest uncertainty</a:t>
            </a:r>
            <a:endParaRPr lang="en-US" sz="3000" dirty="0"/>
          </a:p>
        </p:txBody>
      </p:sp>
      <p:sp>
        <p:nvSpPr>
          <p:cNvPr id="3" name="Residual forecaster circle"/>
          <p:cNvSpPr/>
          <p:nvPr/>
        </p:nvSpPr>
        <p:spPr>
          <a:xfrm>
            <a:off x="548640" y="1508760"/>
            <a:ext cx="640080" cy="640080"/>
          </a:xfrm>
          <a:prstGeom prst="ellipse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pic>
        <p:nvPicPr>
          <p:cNvPr id="4" name="Residual forecaste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1662379"/>
            <a:ext cx="332842" cy="33284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17320" y="14630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</a:rPr>
              <a:t>Residual forecaster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417320" y="187452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Gradient-boosted trees per horizon (30–120 min) see every stream plus the twin's own forecast, and learn when to trust physiology. Forecasts assume no new food; meals enter through the twin.</a:t>
            </a:r>
            <a:endParaRPr lang="en-US" sz="1300" dirty="0"/>
          </a:p>
        </p:txBody>
      </p:sp>
      <p:sp>
        <p:nvSpPr>
          <p:cNvPr id="7" name="Conformal intervals circle"/>
          <p:cNvSpPr/>
          <p:nvPr/>
        </p:nvSpPr>
        <p:spPr>
          <a:xfrm>
            <a:off x="548640" y="3017520"/>
            <a:ext cx="640080" cy="64008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Conformal interval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59" y="3171139"/>
            <a:ext cx="332842" cy="33284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297180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</a:rPr>
              <a:t>Conformal intervals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417320" y="338328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Conformalised quantile regression gives 90 % prediction intervals with a distribution-free coverage guarantee. Observed coverage on unseen patients: 91.7% at 2 h.</a:t>
            </a:r>
            <a:endParaRPr lang="en-US" sz="1300" dirty="0"/>
          </a:p>
        </p:txBody>
      </p:sp>
      <p:sp>
        <p:nvSpPr>
          <p:cNvPr id="11" name="Explained alerts circle"/>
          <p:cNvSpPr/>
          <p:nvPr/>
        </p:nvSpPr>
        <p:spPr>
          <a:xfrm>
            <a:off x="548640" y="4526280"/>
            <a:ext cx="640080" cy="640080"/>
          </a:xfrm>
          <a:prstGeom prst="ellipse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pic>
        <p:nvPicPr>
          <p:cNvPr id="12" name="Explained alert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4679899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17320" y="448056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</a:rPr>
              <a:t>Explained alerts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1417320" y="489204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Calibrated risks for hyperglycaemia, spikes and hypoglycaemia. Exact TreeSHAP values, grouped by data stream, tell the doctor why each alert fired.</a:t>
            </a:r>
            <a:endParaRPr lang="en-US" sz="1300" dirty="0"/>
          </a:p>
        </p:txBody>
      </p:sp>
      <p:pic>
        <p:nvPicPr>
          <p:cNvPr id="15" name="alert panel screenshot" descr="C:\Users\Venkatsa0210\Desktop\Coding\Digital Twin Challenge\MadhuTwin\docs\build\crops\alert_pan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1371600"/>
            <a:ext cx="2971800" cy="4334256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315200" y="58064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98781"/>
                </a:solidFill>
              </a:rPr>
              <a:t>Every on-screen prediction comes from a cross-validation model that never saw that patient.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An afternoon hypoglycaemia, flagged before it happens</a:t>
            </a:r>
            <a:endParaRPr lang="en-US" sz="3000" dirty="0"/>
          </a:p>
        </p:txBody>
      </p:sp>
      <p:pic>
        <p:nvPicPr>
          <p:cNvPr id="3" name="hypoglycaemia story screenshot" descr="C:\Users\Venkatsa0210\Desktop\Coding\Digital Twin Challenge\MadhuTwin\docs\build\crops\hypo_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7589520" cy="34930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34924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98781"/>
                </a:solidFill>
              </a:rPr>
              <a:t>Light blue after 'Now': what actually happened (revealed for the demo).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8412480" y="1417320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94B"/>
                </a:solidFill>
              </a:rPr>
              <a:t>Who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412480" y="1764792"/>
            <a:ext cx="32461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Ramesh, 61, glimepiride + CKD, skips lunch and walks to the market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258775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94B"/>
                </a:solidFill>
              </a:rPr>
              <a:t>What the twin sees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2935224"/>
            <a:ext cx="32461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Falling trend, recent activity, a long fast and a sulfonylurea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375818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94B"/>
                </a:solidFill>
              </a:rPr>
              <a:t>Why risk, not just a line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4105656"/>
            <a:ext cx="32461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The median forecast expects recovery; the calibrated risk model flags a 54 % chance of a low. The low happens.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49286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94B"/>
                </a:solidFill>
              </a:rPr>
              <a:t>What the doctor gets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412480" y="5276088"/>
            <a:ext cx="32461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An urgent alert with reasons, a twin-tested action (15 g carbohydrate) and a prompt to review the dose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What-if: test a meal swap or a walk on the patient's own physiology</a:t>
            </a:r>
            <a:endParaRPr lang="en-US" sz="3000" dirty="0"/>
          </a:p>
        </p:txBody>
      </p:sp>
      <p:pic>
        <p:nvPicPr>
          <p:cNvPr id="3" name="what-if screenshot" descr="C:\Users\Venkatsa0210\Desktop\Coding\Digital Twin Challenge\MadhuTwin\docs\build\crops\whatif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7589520" cy="332841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21208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98781"/>
                </a:solidFill>
              </a:rPr>
              <a:t>Lakshmi's usual rice-and-rasam lunch vs a 15-minute walk vs brown rice with dal (twin estimates).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8412480" y="1508760"/>
            <a:ext cx="32461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2514E"/>
                </a:solidFill>
              </a:rPr>
              <a:t>Indian meal library with glycaemic index, portions and timing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2514E"/>
                </a:solidFill>
              </a:rPr>
              <a:t>Walks, sleep and medication changes (add DPP-4i, SGLT2i, AGI; stop sulfonylurea)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2514E"/>
                </a:solidFill>
              </a:rPr>
              <a:t>Peak, time above 180 and time below 70 compared side by side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2514E"/>
                </a:solidFill>
              </a:rPr>
              <a:t>The twin also ranks the best next action automatically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412480" y="512064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98781"/>
                </a:solidFill>
              </a:rPr>
              <a:t>ML sets the expected path; the patient's physiology computes the counterfactual change.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Validated on real patients: 27% lower two-hour error than persistence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417320"/>
          <a:ext cx="676656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evidence facts"/>
          <p:cNvSpPr/>
          <p:nvPr/>
        </p:nvSpPr>
        <p:spPr>
          <a:xfrm>
            <a:off x="7680960" y="1463040"/>
            <a:ext cx="3959352" cy="4343400"/>
          </a:xfrm>
          <a:prstGeom prst="roundRect">
            <a:avLst>
              <a:gd name="adj" fmla="val 277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001000" y="160020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A78D6"/>
                </a:solidFill>
              </a:rPr>
              <a:t>28.2 mg/dL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8001000" y="233172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2-hour RMSE vs 38.5 for persistence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001000" y="297180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13294B"/>
                </a:solidFill>
              </a:rPr>
              <a:t>99.0 %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370332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of 2-hour forecasts in Clarke error-grid zones A+B (clinically acceptable)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434340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</a:rPr>
              <a:t>CGMacros (PhysioNet): 45 adults with CGM, Fitbit, meals and labs. 5-fold leave-patients-out; twins personalised only on each patient's first days; metrics on 311 unseen patient-days. Native sensor samples only (no interpolation leakage).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record tells you who is at risk; the streams tell you when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417320"/>
          <a:ext cx="676656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warning facts"/>
          <p:cNvSpPr/>
          <p:nvPr/>
        </p:nvSpPr>
        <p:spPr>
          <a:xfrm>
            <a:off x="7680960" y="1463040"/>
            <a:ext cx="3959352" cy="4343400"/>
          </a:xfrm>
          <a:prstGeom prst="roundRect">
            <a:avLst>
              <a:gd name="adj" fmla="val 277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001000" y="160020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A78D6"/>
                </a:solidFill>
              </a:rPr>
              <a:t>75 min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8001000" y="233172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median warning before glucose crosses 180 mg/dL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001000" y="292608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13294B"/>
                </a:solidFill>
              </a:rPr>
              <a:t>61%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365760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of hyperglycaemic episodes flagged at least 15 minutes ahead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4297680"/>
            <a:ext cx="3429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</a:rPr>
              <a:t>1.4 false alerts per patient-day at a 0.5 threshold. Spike (+50 mg/dL) AUROC 0.82. EHR alone (AUROC 0.68) identifies baseline risk; fusing it with live streams gives the best early warning.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Where the physiological twin earns its place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417320"/>
          <a:ext cx="54864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263640" y="1417320"/>
          <a:ext cx="53949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2120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</a:rPr>
              <a:t>EHR prior: 21% lower error on day zero. 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The record makes the twin usable before any sensor data; after about a day the streams dominate.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6263640" y="52120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</a:rPr>
              <a:t>Simulation and physiology. 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Carbohydrate counting alone does not predict an individual's response; the twin does. On the synthetic Indian cohort, 57% of hypoglycaemia episodes are flagged at least 10 min ahead.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we found, including what did not work</a:t>
            </a:r>
            <a:endParaRPr lang="en-US" sz="3000" dirty="0"/>
          </a:p>
        </p:txBody>
      </p:sp>
      <p:sp>
        <p:nvSpPr>
          <p:cNvPr id="3" name="limitation 1"/>
          <p:cNvSpPr/>
          <p:nvPr/>
        </p:nvSpPr>
        <p:spPr>
          <a:xfrm>
            <a:off x="548640" y="146304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</a:rPr>
              <a:t>Twin features vs best fusion model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48840"/>
            <a:ext cx="4892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On rolling real-data forecasts, adding twin features did not beat the best fusion model. Their value is counterfactual simulation, physiology, day-zero personalisation and meal-response prediction.</a:t>
            </a:r>
            <a:endParaRPr lang="en-US" sz="1300" dirty="0"/>
          </a:p>
        </p:txBody>
      </p:sp>
      <p:sp>
        <p:nvSpPr>
          <p:cNvPr id="6" name="limitation 2"/>
          <p:cNvSpPr/>
          <p:nvPr/>
        </p:nvSpPr>
        <p:spPr>
          <a:xfrm>
            <a:off x="6172200" y="146304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69164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</a:rPr>
              <a:t>Three ideas rejected after validation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148840"/>
            <a:ext cx="4892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A disturbance observer, an activity-persistence prior and a fasting steady-state constraint were tested on held-out data and switched off: none improved accuracy.</a:t>
            </a:r>
            <a:endParaRPr lang="en-US" sz="1300" dirty="0"/>
          </a:p>
        </p:txBody>
      </p:sp>
      <p:sp>
        <p:nvSpPr>
          <p:cNvPr id="9" name="limitation 3"/>
          <p:cNvSpPr/>
          <p:nvPr/>
        </p:nvSpPr>
        <p:spPr>
          <a:xfrm>
            <a:off x="548640" y="370332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93192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</a:rPr>
              <a:t>Small, non-Indian real cohort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389120"/>
            <a:ext cx="4892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45 US adults, ~10 days each. Indian demographics, diets and drugs are tested on a synthetic cohort, always labelled and never mixed with real evidence.</a:t>
            </a:r>
            <a:endParaRPr lang="en-US" sz="1300" dirty="0"/>
          </a:p>
        </p:txBody>
      </p:sp>
      <p:sp>
        <p:nvSpPr>
          <p:cNvPr id="12" name="limitation 4"/>
          <p:cNvSpPr/>
          <p:nvPr/>
        </p:nvSpPr>
        <p:spPr>
          <a:xfrm>
            <a:off x="6172200" y="370332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393192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</a:rPr>
              <a:t>Lows: trust the risk, not the line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4389120"/>
            <a:ext cx="4892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Lows are rare in CGMacros (0.35 % of moments) and point forecasts regress towards typical levels before them; the calibrated hypoglycaemia classifier (AUROC 0.85 real, 0.99 synthetic) is the primary signal.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Built for India: clinically, culturally and legally</a:t>
            </a:r>
            <a:endParaRPr lang="en-US" sz="3000" dirty="0"/>
          </a:p>
        </p:txBody>
      </p:sp>
      <p:sp>
        <p:nvSpPr>
          <p:cNvPr id="3" name="Indian context"/>
          <p:cNvSpPr/>
          <p:nvPr/>
        </p:nvSpPr>
        <p:spPr>
          <a:xfrm>
            <a:off x="548640" y="150876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Indian context icon circle"/>
          <p:cNvSpPr/>
          <p:nvPr/>
        </p:nvSpPr>
        <p:spPr>
          <a:xfrm>
            <a:off x="822960" y="1783080"/>
            <a:ext cx="640080" cy="640080"/>
          </a:xfrm>
          <a:prstGeom prst="ellipse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pic>
        <p:nvPicPr>
          <p:cNvPr id="5" name="Indian contex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93669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060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0B0B"/>
                </a:solidFill>
              </a:rPr>
              <a:t>Indian context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9184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</a:rPr>
              <a:t>54 Indian dishes with glycaemic index (IFCT 2017)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</a:rPr>
              <a:t>Indian prescribing: teneligliptin, voglibose, glimepiride, gliclazide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</a:rPr>
              <a:t>Asian-Indian BMI and waist cut-offs; IDRS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</a:rPr>
              <a:t>Patient language recorded for notices and nudges</a:t>
            </a:r>
            <a:endParaRPr lang="en-US" sz="1300" dirty="0"/>
          </a:p>
        </p:txBody>
      </p:sp>
      <p:sp>
        <p:nvSpPr>
          <p:cNvPr id="8" name="Privacy by design (DPDP Act 2023)"/>
          <p:cNvSpPr/>
          <p:nvPr/>
        </p:nvSpPr>
        <p:spPr>
          <a:xfrm>
            <a:off x="4297680" y="150876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9" name="Privacy by design (DPDP Act 2023) icon circle"/>
          <p:cNvSpPr/>
          <p:nvPr/>
        </p:nvSpPr>
        <p:spPr>
          <a:xfrm>
            <a:off x="4572000" y="1783080"/>
            <a:ext cx="640080" cy="640080"/>
          </a:xfrm>
          <a:prstGeom prst="ellipse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pic>
        <p:nvPicPr>
          <p:cNvPr id="10" name="Privacy by design (DPDP Act 2023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5619" y="193669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0" y="26060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0B0B"/>
                </a:solidFill>
              </a:rPr>
              <a:t>Privacy by design (DPDP Act 2023)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329184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</a:rPr>
              <a:t>Purpose-bound consent per patient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</a:rPr>
              <a:t>Data minimisation and retention limits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</a:rPr>
              <a:t>Only open de-identified or fictional data used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</a:rPr>
              <a:t>Decision support; no dosing instructions</a:t>
            </a:r>
            <a:endParaRPr lang="en-US" sz="1300" dirty="0"/>
          </a:p>
        </p:txBody>
      </p:sp>
      <p:sp>
        <p:nvSpPr>
          <p:cNvPr id="13" name="Interoperable"/>
          <p:cNvSpPr/>
          <p:nvPr/>
        </p:nvSpPr>
        <p:spPr>
          <a:xfrm>
            <a:off x="8046720" y="150876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Interoperable icon circle"/>
          <p:cNvSpPr/>
          <p:nvPr/>
        </p:nvSpPr>
        <p:spPr>
          <a:xfrm>
            <a:off x="8321040" y="1783080"/>
            <a:ext cx="640080" cy="640080"/>
          </a:xfrm>
          <a:prstGeom prst="ellipse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pic>
        <p:nvPicPr>
          <p:cNvPr id="15" name="Interoperable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4659" y="193669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26060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0B0B"/>
                </a:solidFill>
              </a:rPr>
              <a:t>Interoperable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329184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</a:rPr>
              <a:t>HL7 FHIR R4 bundles (ABDM-compatible structure)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</a:rPr>
              <a:t>LOINC, SNOMED CT, ICD-10, WHO ATC codes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</a:rPr>
              <a:t>HL7 CGM IG summary codes; AGP report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</a:rPr>
              <a:t>Open source: Python, FastAPI, React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From prototype to clinic</a:t>
            </a:r>
            <a:endParaRPr lang="en-US" sz="3000" dirty="0"/>
          </a:p>
        </p:txBody>
      </p:sp>
      <p:sp>
        <p:nvSpPr>
          <p:cNvPr id="3" name="milestone 1"/>
          <p:cNvSpPr/>
          <p:nvPr/>
        </p:nvSpPr>
        <p:spPr>
          <a:xfrm>
            <a:off x="594360" y="1783080"/>
            <a:ext cx="365760" cy="3657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imeline 1"/>
          <p:cNvSpPr/>
          <p:nvPr/>
        </p:nvSpPr>
        <p:spPr>
          <a:xfrm>
            <a:off x="1005840" y="1965960"/>
            <a:ext cx="2331720" cy="0"/>
          </a:xfrm>
          <a:prstGeom prst="line">
            <a:avLst/>
          </a:prstGeom>
          <a:noFill/>
          <a:ln w="19050">
            <a:solidFill>
              <a:srgbClr val="C3C2B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3317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</a:rPr>
              <a:t>Now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5176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</a:rPr>
              <a:t>Validated prototype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08960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Real-data evidence, Indian synthetic cohort, clinician dashboard, FHIR export</a:t>
            </a:r>
            <a:endParaRPr lang="en-US" sz="1300" dirty="0"/>
          </a:p>
        </p:txBody>
      </p:sp>
      <p:sp>
        <p:nvSpPr>
          <p:cNvPr id="8" name="milestone 2"/>
          <p:cNvSpPr/>
          <p:nvPr/>
        </p:nvSpPr>
        <p:spPr>
          <a:xfrm>
            <a:off x="3410712" y="1783080"/>
            <a:ext cx="365760" cy="365760"/>
          </a:xfrm>
          <a:prstGeom prst="ellipse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9" name="timeline 2"/>
          <p:cNvSpPr/>
          <p:nvPr/>
        </p:nvSpPr>
        <p:spPr>
          <a:xfrm>
            <a:off x="3822192" y="1965960"/>
            <a:ext cx="2331720" cy="0"/>
          </a:xfrm>
          <a:prstGeom prst="line">
            <a:avLst/>
          </a:prstGeom>
          <a:noFill/>
          <a:ln w="19050">
            <a:solidFill>
              <a:srgbClr val="C3C2B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64992" y="23317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</a:rPr>
              <a:t>Next 6 months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364992" y="265176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</a:rPr>
              <a:t>Clinical pilot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364992" y="3108960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Remote-monitoring clinic in Bengaluru: alert-guided vs usual care on time in range and hypoglycaemia</a:t>
            </a:r>
            <a:endParaRPr lang="en-US" sz="1300" dirty="0"/>
          </a:p>
        </p:txBody>
      </p:sp>
      <p:sp>
        <p:nvSpPr>
          <p:cNvPr id="13" name="milestone 3"/>
          <p:cNvSpPr/>
          <p:nvPr/>
        </p:nvSpPr>
        <p:spPr>
          <a:xfrm>
            <a:off x="6227064" y="1783080"/>
            <a:ext cx="365760" cy="365760"/>
          </a:xfrm>
          <a:prstGeom prst="ellipse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14" name="timeline 3"/>
          <p:cNvSpPr/>
          <p:nvPr/>
        </p:nvSpPr>
        <p:spPr>
          <a:xfrm>
            <a:off x="6638544" y="1965960"/>
            <a:ext cx="2331720" cy="0"/>
          </a:xfrm>
          <a:prstGeom prst="line">
            <a:avLst/>
          </a:prstGeom>
          <a:noFill/>
          <a:ln w="19050">
            <a:solidFill>
              <a:srgbClr val="C3C2B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81344" y="23317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</a:rPr>
              <a:t>12 months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181344" y="265176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</a:rPr>
              <a:t>Scale features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181344" y="3108960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Photo-based Indian meal logging; low-cost sensor support; on-device twin for low connectivity</a:t>
            </a:r>
            <a:endParaRPr lang="en-US" sz="1300" dirty="0"/>
          </a:p>
        </p:txBody>
      </p:sp>
      <p:sp>
        <p:nvSpPr>
          <p:cNvPr id="18" name="milestone 4"/>
          <p:cNvSpPr/>
          <p:nvPr/>
        </p:nvSpPr>
        <p:spPr>
          <a:xfrm>
            <a:off x="9043416" y="1783080"/>
            <a:ext cx="365760" cy="365760"/>
          </a:xfrm>
          <a:prstGeom prst="ellipse">
            <a:avLst/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997696" y="23317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</a:rPr>
              <a:t>Beyond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997696" y="265176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</a:rPr>
              <a:t>More conditions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997696" y="3108960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Same twin framework for hypertension and cardiovascular risk; CDSCO SaMD pathway</a:t>
            </a:r>
            <a:endParaRPr lang="en-US" sz="1300" dirty="0"/>
          </a:p>
        </p:txBody>
      </p:sp>
      <p:sp>
        <p:nvSpPr>
          <p:cNvPr id="22" name="beneficiaries"/>
          <p:cNvSpPr/>
          <p:nvPr/>
        </p:nvSpPr>
        <p:spPr>
          <a:xfrm>
            <a:off x="548640" y="4892040"/>
            <a:ext cx="11094415" cy="1051560"/>
          </a:xfrm>
          <a:prstGeom prst="roundRect">
            <a:avLst>
              <a:gd name="adj" fmla="val 10435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507492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</a:rPr>
              <a:t>Who benefits: </a:t>
            </a:r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</a:rPr>
              <a:t>endocrinologists and physicians running remote-monitoring clinics, diabetes educators, and community programmes where every specialist minute counts.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774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Warn early. Explain why. Test before acting.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747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C9D7EA"/>
                </a:solidFill>
              </a:rPr>
              <a:t>MadhuTwin  ·  Anish Karthik Ayyagari  ·  IIT Kharagpur</a:t>
            </a:r>
            <a:endParaRPr lang="en-US" sz="2000" dirty="0"/>
          </a:p>
        </p:txBody>
      </p:sp>
      <p:pic>
        <p:nvPicPr>
          <p:cNvPr id="4" name="lo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822960" cy="8229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EA3C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dhuTwin">
  <a:themeElements>
    <a:clrScheme name="MadhuTwin">
      <a:dk1>
        <a:srgbClr val="0B0B0B"/>
      </a:dk1>
      <a:lt1>
        <a:srgbClr val="FFFFFF"/>
      </a:lt1>
      <a:dk2>
        <a:srgbClr val="13294B"/>
      </a:dk2>
      <a:lt2>
        <a:srgbClr val="F3F4F6"/>
      </a:lt2>
      <a:accent1>
        <a:srgbClr val="2A78D6"/>
      </a:accent1>
      <a:accent2>
        <a:srgbClr val="EB6834"/>
      </a:accent2>
      <a:accent3>
        <a:srgbClr val="1BAF7A"/>
      </a:accent3>
      <a:accent4>
        <a:srgbClr val="D03B3B"/>
      </a:accent4>
      <a:accent5>
        <a:srgbClr val="FAB219"/>
      </a:accent5>
      <a:accent6>
        <a:srgbClr val="52514E"/>
      </a:accent6>
      <a:hlink>
        <a:srgbClr val="2A78D6"/>
      </a:hlink>
      <a:folHlink>
        <a:srgbClr val="6250D6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MadhuTwin: a hybrid physiological-AI digital twin for type 2 diabetes</dc:title>
  <dc:subject>Digital Twin Challenge 2026</dc:subject>
  <dc:creator>Anish Karthik Ayyagari</dc:creator>
  <cp:lastModifiedBy>Anish Karthik Ayyagari</cp:lastModifiedBy>
  <cp:revision>1</cp:revision>
  <dcterms:created xsi:type="dcterms:W3CDTF">2026-10-14T19:10:59Z</dcterms:created>
  <dcterms:modified xsi:type="dcterms:W3CDTF">2026-10-14T19:10:59Z</dcterms:modified>
</cp:coreProperties>
</file>